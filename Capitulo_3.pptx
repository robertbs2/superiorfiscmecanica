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A157"/>
    <a:srgbClr val="197B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09" autoAdjust="0"/>
    <p:restoredTop sz="94660"/>
  </p:normalViewPr>
  <p:slideViewPr>
    <p:cSldViewPr>
      <p:cViewPr>
        <p:scale>
          <a:sx n="60" d="100"/>
          <a:sy n="60" d="100"/>
        </p:scale>
        <p:origin x="48" y="7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Z:\ARTE\______UNIVERSITARIOS\Templates\SEARS_I\SEARS_template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484" y="0"/>
            <a:ext cx="916096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8"/>
          <p:cNvSpPr>
            <a:spLocks noGrp="1" noChangeArrowheads="1"/>
          </p:cNvSpPr>
          <p:nvPr userDrawn="1"/>
        </p:nvSpPr>
        <p:spPr bwMode="auto">
          <a:xfrm>
            <a:off x="4927671" y="6597352"/>
            <a:ext cx="3964809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aseline="0" dirty="0"/>
              <a:t>© </a:t>
            </a:r>
            <a:r>
              <a:rPr lang="pt-BR" sz="1200" baseline="0" dirty="0" smtClean="0"/>
              <a:t>2016 Pearson. Todos os direitos reservados.</a:t>
            </a:r>
            <a:endParaRPr lang="pt-BR" sz="1200" baseline="0" dirty="0"/>
          </a:p>
        </p:txBody>
      </p:sp>
      <p:sp>
        <p:nvSpPr>
          <p:cNvPr id="9" name="Rectangle 8"/>
          <p:cNvSpPr>
            <a:spLocks noGrp="1" noChangeArrowheads="1"/>
          </p:cNvSpPr>
          <p:nvPr userDrawn="1"/>
        </p:nvSpPr>
        <p:spPr bwMode="auto">
          <a:xfrm>
            <a:off x="249622" y="6597352"/>
            <a:ext cx="3214710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aseline="0" dirty="0" smtClean="0"/>
              <a:t>slide </a:t>
            </a:r>
            <a:fld id="{4FA60421-03D3-4659-A04A-6C3A1065A232}" type="slidenum">
              <a:rPr lang="pt-BR" sz="1200" baseline="0" smtClean="0"/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lang="pt-BR" sz="1200" baseline="0" dirty="0" smtClean="0"/>
          </a:p>
          <a:p>
            <a:pPr algn="l"/>
            <a:endParaRPr lang="pt-BR" sz="1200" baseline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Z:\ARTE\______UNIVERSITARIOS\Templates\SEARS_I\SEARS_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9144000" cy="68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/>
          <p:cNvSpPr txBox="1"/>
          <p:nvPr/>
        </p:nvSpPr>
        <p:spPr>
          <a:xfrm>
            <a:off x="395536" y="2708920"/>
            <a:ext cx="54726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smtClean="0">
                <a:latin typeface="Trebuchet MS" panose="020B0603020202020204" pitchFamily="34" charset="0"/>
              </a:rPr>
              <a:t>Capítulo </a:t>
            </a:r>
            <a:r>
              <a:rPr lang="pt-BR" sz="4000" b="1" dirty="0" smtClean="0">
                <a:latin typeface="Trebuchet MS" panose="020B0603020202020204" pitchFamily="34" charset="0"/>
              </a:rPr>
              <a:t>3</a:t>
            </a:r>
            <a:r>
              <a:rPr lang="pt-BR" sz="4000" b="1" dirty="0" smtClean="0">
                <a:latin typeface="Trebuchet MS" panose="020B0603020202020204" pitchFamily="34" charset="0"/>
              </a:rPr>
              <a:t>:</a:t>
            </a:r>
            <a:endParaRPr lang="pt-BR" sz="4000" b="1" dirty="0" smtClean="0">
              <a:latin typeface="Trebuchet MS" panose="020B0603020202020204" pitchFamily="34" charset="0"/>
            </a:endParaRPr>
          </a:p>
          <a:p>
            <a:r>
              <a:rPr lang="pt-BR" sz="4000" b="1" dirty="0" smtClean="0">
                <a:solidFill>
                  <a:srgbClr val="197B52"/>
                </a:solidFill>
                <a:latin typeface="Trebuchet MS" panose="020B0603020202020204" pitchFamily="34" charset="0"/>
              </a:rPr>
              <a:t>Movimento em duas ou três dimensões</a:t>
            </a:r>
            <a:endParaRPr lang="pt-BR" sz="4000" b="1" dirty="0"/>
          </a:p>
        </p:txBody>
      </p:sp>
      <p:sp>
        <p:nvSpPr>
          <p:cNvPr id="9" name="Rectangle 8"/>
          <p:cNvSpPr>
            <a:spLocks noGrp="1" noChangeArrowheads="1"/>
          </p:cNvSpPr>
          <p:nvPr/>
        </p:nvSpPr>
        <p:spPr bwMode="auto">
          <a:xfrm>
            <a:off x="4927671" y="6597352"/>
            <a:ext cx="3964809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aseline="0" dirty="0"/>
              <a:t>© </a:t>
            </a:r>
            <a:r>
              <a:rPr lang="pt-BR" sz="1200" baseline="0" dirty="0" smtClean="0"/>
              <a:t>2016 Pearson. Todos os direitos reservados.</a:t>
            </a:r>
            <a:endParaRPr lang="pt-BR" sz="1200" baseline="0" dirty="0"/>
          </a:p>
        </p:txBody>
      </p:sp>
      <p:sp>
        <p:nvSpPr>
          <p:cNvPr id="11" name="Rectangle 8"/>
          <p:cNvSpPr>
            <a:spLocks noGrp="1" noChangeArrowheads="1"/>
          </p:cNvSpPr>
          <p:nvPr/>
        </p:nvSpPr>
        <p:spPr bwMode="auto">
          <a:xfrm>
            <a:off x="35496" y="6527054"/>
            <a:ext cx="3214710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200" baseline="0" dirty="0"/>
          </a:p>
        </p:txBody>
      </p:sp>
    </p:spTree>
    <p:extLst>
      <p:ext uri="{BB962C8B-B14F-4D97-AF65-F5344CB8AC3E}">
        <p14:creationId xmlns:p14="http://schemas.microsoft.com/office/powerpoint/2010/main" val="15045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47740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smtClean="0">
                <a:solidFill>
                  <a:srgbClr val="197B52"/>
                </a:solidFill>
                <a:latin typeface="Trebuchet MS" panose="020B0603020202020204" pitchFamily="34" charset="0"/>
              </a:rPr>
              <a:t>Objetivos de aprendizagem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Como usar vetores para representar a posição e a velocidade de um corpo em duas ou três dimensões.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Como </a:t>
            </a:r>
            <a:r>
              <a:rPr lang="pt-BR" sz="2000" dirty="0">
                <a:cs typeface="Arial" panose="020B0604020202020204" pitchFamily="34" charset="0"/>
              </a:rPr>
              <a:t>achar o vetor aceleração de um corpo e por que um corpo tem essa aceleração, mesmo que sua velocidade escalar seja constante.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Como </a:t>
            </a:r>
            <a:r>
              <a:rPr lang="pt-BR" sz="2000" dirty="0">
                <a:cs typeface="Arial" panose="020B0604020202020204" pitchFamily="34" charset="0"/>
              </a:rPr>
              <a:t>resolver problemas que envolvem a trajetória em curva percorrida por um projétil</a:t>
            </a:r>
            <a:r>
              <a:rPr lang="pt-BR" sz="2000" dirty="0" smtClean="0">
                <a:cs typeface="Arial" panose="020B0604020202020204" pitchFamily="34" charset="0"/>
              </a:rPr>
              <a:t>.</a:t>
            </a:r>
            <a:endParaRPr lang="pt-BR" sz="2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154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47740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smtClean="0">
                <a:solidFill>
                  <a:srgbClr val="197B52"/>
                </a:solidFill>
                <a:latin typeface="Trebuchet MS" panose="020B0603020202020204" pitchFamily="34" charset="0"/>
              </a:rPr>
              <a:t>Objetivos de aprendizagem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Como analisar o movimento em uma trajetória circular.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Como relacionar as velocidades de um corpo em movimento, visto a partir de dois diferentes pontos de referência.</a:t>
            </a:r>
            <a:endParaRPr lang="pt-BR" sz="2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774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5690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 posição e vetor velocidade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O vetor posição    </a:t>
            </a:r>
            <a:r>
              <a:rPr lang="pt-BR" sz="2000" dirty="0" smtClean="0">
                <a:cs typeface="Arial" panose="020B0604020202020204" pitchFamily="34" charset="0"/>
              </a:rPr>
              <a:t> da </a:t>
            </a:r>
            <a:r>
              <a:rPr lang="pt-BR" sz="2000" dirty="0">
                <a:cs typeface="Arial" panose="020B0604020202020204" pitchFamily="34" charset="0"/>
              </a:rPr>
              <a:t>origem </a:t>
            </a:r>
            <a:r>
              <a:rPr lang="pt-BR" sz="2000" i="1" dirty="0">
                <a:cs typeface="Arial" panose="020B0604020202020204" pitchFamily="34" charset="0"/>
              </a:rPr>
              <a:t>O</a:t>
            </a:r>
            <a:r>
              <a:rPr lang="pt-BR" sz="2000" dirty="0">
                <a:cs typeface="Arial" panose="020B0604020202020204" pitchFamily="34" charset="0"/>
              </a:rPr>
              <a:t> até o ponto </a:t>
            </a:r>
            <a:r>
              <a:rPr lang="pt-BR" sz="2000" i="1" dirty="0">
                <a:cs typeface="Arial" panose="020B0604020202020204" pitchFamily="34" charset="0"/>
              </a:rPr>
              <a:t>P</a:t>
            </a:r>
            <a:r>
              <a:rPr lang="pt-BR" sz="2000" dirty="0">
                <a:cs typeface="Arial" panose="020B0604020202020204" pitchFamily="34" charset="0"/>
              </a:rPr>
              <a:t> possui componentes </a:t>
            </a:r>
            <a:r>
              <a:rPr lang="pt-BR" sz="2000" i="1" dirty="0">
                <a:cs typeface="Arial" panose="020B0604020202020204" pitchFamily="34" charset="0"/>
              </a:rPr>
              <a:t>x</a:t>
            </a:r>
            <a:r>
              <a:rPr lang="pt-BR" sz="2000" dirty="0">
                <a:cs typeface="Arial" panose="020B0604020202020204" pitchFamily="34" charset="0"/>
              </a:rPr>
              <a:t>, </a:t>
            </a:r>
            <a:r>
              <a:rPr lang="pt-BR" sz="2000" i="1" dirty="0">
                <a:cs typeface="Arial" panose="020B0604020202020204" pitchFamily="34" charset="0"/>
              </a:rPr>
              <a:t>y</a:t>
            </a:r>
            <a:r>
              <a:rPr lang="pt-BR" sz="2000" dirty="0">
                <a:cs typeface="Arial" panose="020B0604020202020204" pitchFamily="34" charset="0"/>
              </a:rPr>
              <a:t> e </a:t>
            </a:r>
            <a:r>
              <a:rPr lang="pt-BR" sz="2000" i="1" dirty="0">
                <a:cs typeface="Arial" panose="020B0604020202020204" pitchFamily="34" charset="0"/>
              </a:rPr>
              <a:t>z</a:t>
            </a:r>
            <a:r>
              <a:rPr lang="pt-BR" sz="2000" dirty="0">
                <a:cs typeface="Arial" panose="020B0604020202020204" pitchFamily="34" charset="0"/>
              </a:rPr>
              <a:t>: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700808"/>
            <a:ext cx="313583" cy="36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0207" y="2492896"/>
            <a:ext cx="4010025" cy="4016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877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5690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 posição e vetor velocidade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A velocidade média </a:t>
            </a:r>
            <a:r>
              <a:rPr lang="pt-BR" sz="2000" dirty="0" smtClean="0">
                <a:cs typeface="Arial" panose="020B0604020202020204" pitchFamily="34" charset="0"/>
              </a:rPr>
              <a:t>  </a:t>
            </a:r>
            <a:r>
              <a:rPr lang="pt-BR" sz="2000" baseline="-25000" dirty="0" smtClean="0">
                <a:cs typeface="Arial" panose="020B0604020202020204" pitchFamily="34" charset="0"/>
              </a:rPr>
              <a:t>m</a:t>
            </a:r>
            <a:r>
              <a:rPr lang="pt-BR" sz="2000" dirty="0" smtClean="0">
                <a:cs typeface="Arial" panose="020B0604020202020204" pitchFamily="34" charset="0"/>
              </a:rPr>
              <a:t> </a:t>
            </a:r>
            <a:r>
              <a:rPr lang="pt-BR" sz="2000" dirty="0">
                <a:cs typeface="Arial" panose="020B0604020202020204" pitchFamily="34" charset="0"/>
              </a:rPr>
              <a:t>entre os pontos </a:t>
            </a:r>
            <a:r>
              <a:rPr lang="pt-BR" sz="2000" i="1" dirty="0">
                <a:cs typeface="Arial" panose="020B0604020202020204" pitchFamily="34" charset="0"/>
              </a:rPr>
              <a:t>P</a:t>
            </a:r>
            <a:r>
              <a:rPr lang="pt-BR" sz="2000" baseline="-25000" dirty="0">
                <a:cs typeface="Arial" panose="020B0604020202020204" pitchFamily="34" charset="0"/>
              </a:rPr>
              <a:t>1</a:t>
            </a:r>
            <a:r>
              <a:rPr lang="pt-BR" sz="2000" i="1" dirty="0">
                <a:cs typeface="Arial" panose="020B0604020202020204" pitchFamily="34" charset="0"/>
              </a:rPr>
              <a:t> </a:t>
            </a:r>
            <a:r>
              <a:rPr lang="pt-BR" sz="2000" dirty="0">
                <a:cs typeface="Arial" panose="020B0604020202020204" pitchFamily="34" charset="0"/>
              </a:rPr>
              <a:t>e </a:t>
            </a:r>
            <a:r>
              <a:rPr lang="pt-BR" sz="2000" i="1" dirty="0">
                <a:cs typeface="Arial" panose="020B0604020202020204" pitchFamily="34" charset="0"/>
              </a:rPr>
              <a:t>P</a:t>
            </a:r>
            <a:r>
              <a:rPr lang="pt-BR" sz="2000" baseline="-25000" dirty="0">
                <a:cs typeface="Arial" panose="020B0604020202020204" pitchFamily="34" charset="0"/>
              </a:rPr>
              <a:t>2</a:t>
            </a:r>
            <a:r>
              <a:rPr lang="pt-BR" sz="2000" dirty="0">
                <a:cs typeface="Arial" panose="020B0604020202020204" pitchFamily="34" charset="0"/>
              </a:rPr>
              <a:t> </a:t>
            </a:r>
            <a:r>
              <a:rPr lang="pt-BR" sz="2000" dirty="0" smtClean="0">
                <a:cs typeface="Arial" panose="020B0604020202020204" pitchFamily="34" charset="0"/>
              </a:rPr>
              <a:t>possui </a:t>
            </a:r>
            <a:r>
              <a:rPr lang="pt-BR" sz="2000" dirty="0">
                <a:cs typeface="Arial" panose="020B0604020202020204" pitchFamily="34" charset="0"/>
              </a:rPr>
              <a:t>a mesma direção e o mesmo sentido do vetor </a:t>
            </a:r>
            <a:r>
              <a:rPr lang="pt-BR" sz="2000" dirty="0" smtClean="0">
                <a:cs typeface="Arial" panose="020B0604020202020204" pitchFamily="34" charset="0"/>
              </a:rPr>
              <a:t>deslocamento       </a:t>
            </a:r>
            <a:r>
              <a:rPr lang="pt-BR" sz="2000" dirty="0">
                <a:cs typeface="Arial" panose="020B0604020202020204" pitchFamily="34" charset="0"/>
              </a:rPr>
              <a:t>: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775098"/>
            <a:ext cx="1809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106" y="2204864"/>
            <a:ext cx="361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9380" y="2802210"/>
            <a:ext cx="415290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1823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5690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 posição e vetor velocidade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Os </a:t>
            </a:r>
            <a:r>
              <a:rPr lang="pt-BR" sz="2000" dirty="0" smtClean="0">
                <a:cs typeface="Arial" panose="020B0604020202020204" pitchFamily="34" charset="0"/>
              </a:rPr>
              <a:t>vetores   </a:t>
            </a:r>
            <a:r>
              <a:rPr lang="pt-BR" sz="2000" baseline="-25000" dirty="0" smtClean="0">
                <a:cs typeface="Arial" panose="020B0604020202020204" pitchFamily="34" charset="0"/>
              </a:rPr>
              <a:t>1</a:t>
            </a:r>
            <a:r>
              <a:rPr lang="pt-BR" sz="2000" dirty="0" smtClean="0">
                <a:cs typeface="Arial" panose="020B0604020202020204" pitchFamily="34" charset="0"/>
              </a:rPr>
              <a:t>  e   </a:t>
            </a:r>
            <a:r>
              <a:rPr lang="pt-BR" sz="2000" baseline="-25000" dirty="0" smtClean="0">
                <a:cs typeface="Arial" panose="020B0604020202020204" pitchFamily="34" charset="0"/>
              </a:rPr>
              <a:t>2</a:t>
            </a:r>
            <a:r>
              <a:rPr lang="pt-BR" sz="2000" dirty="0" smtClean="0">
                <a:cs typeface="Arial" panose="020B0604020202020204" pitchFamily="34" charset="0"/>
              </a:rPr>
              <a:t> </a:t>
            </a:r>
            <a:r>
              <a:rPr lang="pt-BR" sz="2000" dirty="0">
                <a:cs typeface="Arial" panose="020B0604020202020204" pitchFamily="34" charset="0"/>
              </a:rPr>
              <a:t>são as velocidades instantâneas nos pontos </a:t>
            </a:r>
            <a:r>
              <a:rPr lang="pt-BR" sz="2000" i="1" dirty="0">
                <a:cs typeface="Arial" panose="020B0604020202020204" pitchFamily="34" charset="0"/>
              </a:rPr>
              <a:t>P</a:t>
            </a:r>
            <a:r>
              <a:rPr lang="pt-BR" sz="2000" baseline="-25000" dirty="0">
                <a:cs typeface="Arial" panose="020B0604020202020204" pitchFamily="34" charset="0"/>
              </a:rPr>
              <a:t>1</a:t>
            </a:r>
            <a:r>
              <a:rPr lang="pt-BR" sz="2000" dirty="0">
                <a:cs typeface="Arial" panose="020B0604020202020204" pitchFamily="34" charset="0"/>
              </a:rPr>
              <a:t> e </a:t>
            </a:r>
            <a:r>
              <a:rPr lang="pt-BR" sz="2000" i="1" dirty="0">
                <a:cs typeface="Arial" panose="020B0604020202020204" pitchFamily="34" charset="0"/>
              </a:rPr>
              <a:t>P</a:t>
            </a:r>
            <a:r>
              <a:rPr lang="pt-BR" sz="2000" baseline="-25000" dirty="0">
                <a:cs typeface="Arial" panose="020B0604020202020204" pitchFamily="34" charset="0"/>
              </a:rPr>
              <a:t>2</a:t>
            </a:r>
            <a:r>
              <a:rPr lang="pt-BR" sz="2000" dirty="0">
                <a:cs typeface="Arial" panose="020B0604020202020204" pitchFamily="34" charset="0"/>
              </a:rPr>
              <a:t> </a:t>
            </a:r>
            <a:r>
              <a:rPr lang="pt-BR" sz="2000" dirty="0" smtClean="0">
                <a:cs typeface="Arial" panose="020B0604020202020204" pitchFamily="34" charset="0"/>
              </a:rPr>
              <a:t>mostrados </a:t>
            </a:r>
            <a:r>
              <a:rPr lang="pt-BR" sz="2000" dirty="0">
                <a:cs typeface="Arial" panose="020B0604020202020204" pitchFamily="34" charset="0"/>
              </a:rPr>
              <a:t>na figura anterior: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753" y="1775098"/>
            <a:ext cx="1809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841" y="1775098"/>
            <a:ext cx="1809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849" y="2492896"/>
            <a:ext cx="3762375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450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008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 aceleração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965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Definimos o vetor aceleração </a:t>
            </a:r>
            <a:r>
              <a:rPr lang="pt-BR" sz="2000" dirty="0" smtClean="0">
                <a:cs typeface="Arial" panose="020B0604020202020204" pitchFamily="34" charset="0"/>
              </a:rPr>
              <a:t>média    </a:t>
            </a:r>
            <a:r>
              <a:rPr lang="pt-BR" sz="2000" i="1" baseline="-25000" dirty="0">
                <a:cs typeface="Arial" panose="020B0604020202020204" pitchFamily="34" charset="0"/>
              </a:rPr>
              <a:t>m</a:t>
            </a:r>
            <a:r>
              <a:rPr lang="pt-BR" sz="2000" dirty="0" smtClean="0">
                <a:cs typeface="Arial" panose="020B0604020202020204" pitchFamily="34" charset="0"/>
              </a:rPr>
              <a:t> do </a:t>
            </a:r>
            <a:r>
              <a:rPr lang="pt-BR" sz="2000" dirty="0">
                <a:cs typeface="Arial" panose="020B0604020202020204" pitchFamily="34" charset="0"/>
              </a:rPr>
              <a:t>carro num intervalo como a variação vetorial da velocidade dividida pelo intervalo </a:t>
            </a:r>
            <a:r>
              <a:rPr lang="pt-BR" sz="2000" i="1" dirty="0">
                <a:cs typeface="Arial" panose="020B0604020202020204" pitchFamily="34" charset="0"/>
              </a:rPr>
              <a:t>t</a:t>
            </a:r>
            <a:r>
              <a:rPr lang="pt-BR" sz="2000" i="1" baseline="-25000" dirty="0">
                <a:cs typeface="Arial" panose="020B0604020202020204" pitchFamily="34" charset="0"/>
              </a:rPr>
              <a:t>2</a:t>
            </a:r>
            <a:r>
              <a:rPr lang="pt-BR" sz="2000" i="1" dirty="0">
                <a:cs typeface="Arial" panose="020B0604020202020204" pitchFamily="34" charset="0"/>
              </a:rPr>
              <a:t> </a:t>
            </a:r>
            <a:r>
              <a:rPr lang="pt-BR" sz="2000" dirty="0">
                <a:cs typeface="Arial" panose="020B0604020202020204" pitchFamily="34" charset="0"/>
              </a:rPr>
              <a:t>–</a:t>
            </a:r>
            <a:r>
              <a:rPr lang="pt-BR" sz="2000" i="1" dirty="0">
                <a:cs typeface="Arial" panose="020B0604020202020204" pitchFamily="34" charset="0"/>
              </a:rPr>
              <a:t> t</a:t>
            </a:r>
            <a:r>
              <a:rPr lang="pt-BR" sz="2000" i="1" baseline="-25000" dirty="0">
                <a:cs typeface="Arial" panose="020B0604020202020204" pitchFamily="34" charset="0"/>
              </a:rPr>
              <a:t>1</a:t>
            </a:r>
            <a:r>
              <a:rPr lang="pt-BR" sz="2000" i="1" dirty="0">
                <a:cs typeface="Arial" panose="020B0604020202020204" pitchFamily="34" charset="0"/>
              </a:rPr>
              <a:t> </a:t>
            </a:r>
            <a:r>
              <a:rPr lang="pt-BR" sz="2000" dirty="0">
                <a:cs typeface="Arial" panose="020B0604020202020204" pitchFamily="34" charset="0"/>
              </a:rPr>
              <a:t>=</a:t>
            </a:r>
            <a:r>
              <a:rPr lang="pt-BR" sz="2000" i="1" dirty="0">
                <a:cs typeface="Arial" panose="020B0604020202020204" pitchFamily="34" charset="0"/>
              </a:rPr>
              <a:t> 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</a:t>
            </a:r>
            <a:r>
              <a:rPr lang="pt-BR" sz="2000" i="1" dirty="0" smtClean="0">
                <a:cs typeface="Arial" panose="020B0604020202020204" pitchFamily="34" charset="0"/>
              </a:rPr>
              <a:t>t</a:t>
            </a:r>
            <a:r>
              <a:rPr lang="pt-BR" sz="2000" dirty="0" smtClean="0">
                <a:cs typeface="Arial" panose="020B0604020202020204" pitchFamily="34" charset="0"/>
              </a:rPr>
              <a:t>:</a:t>
            </a:r>
            <a:endParaRPr lang="pt-BR" sz="2000" dirty="0">
              <a:cs typeface="Arial" panose="020B0604020202020204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537" y="1800966"/>
            <a:ext cx="162426" cy="259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3F2E7"/>
              </a:clrFrom>
              <a:clrTo>
                <a:srgbClr val="E3F2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48" y="2996952"/>
            <a:ext cx="781050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927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008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 aceleração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Um carro se move ao longo de uma curva de </a:t>
            </a:r>
            <a:r>
              <a:rPr lang="pt-BR" sz="2000" i="1" dirty="0">
                <a:cs typeface="Arial" panose="020B0604020202020204" pitchFamily="34" charset="0"/>
              </a:rPr>
              <a:t>P</a:t>
            </a:r>
            <a:r>
              <a:rPr lang="pt-BR" sz="2000" baseline="-25000" dirty="0">
                <a:cs typeface="Arial" panose="020B0604020202020204" pitchFamily="34" charset="0"/>
              </a:rPr>
              <a:t>1</a:t>
            </a:r>
            <a:r>
              <a:rPr lang="pt-BR" sz="2000" dirty="0">
                <a:cs typeface="Arial" panose="020B0604020202020204" pitchFamily="34" charset="0"/>
              </a:rPr>
              <a:t> até </a:t>
            </a:r>
            <a:r>
              <a:rPr lang="pt-BR" sz="2000" i="1" dirty="0" smtClean="0">
                <a:cs typeface="Arial" panose="020B0604020202020204" pitchFamily="34" charset="0"/>
              </a:rPr>
              <a:t>P</a:t>
            </a:r>
            <a:r>
              <a:rPr lang="pt-BR" sz="2000" baseline="-25000" dirty="0" smtClean="0">
                <a:cs typeface="Arial" panose="020B0604020202020204" pitchFamily="34" charset="0"/>
              </a:rPr>
              <a:t>2</a:t>
            </a:r>
            <a:r>
              <a:rPr lang="pt-BR" sz="2000" dirty="0" smtClean="0">
                <a:cs typeface="Arial" panose="020B0604020202020204" pitchFamily="34" charset="0"/>
              </a:rPr>
              <a:t>:</a:t>
            </a:r>
            <a:endParaRPr lang="pt-BR" sz="2000" dirty="0">
              <a:cs typeface="Arial" panose="020B0604020202020204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488" y="2636912"/>
            <a:ext cx="4391025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237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008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 aceleração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Obtemos a variação de velocidade                         </a:t>
            </a:r>
            <a:r>
              <a:rPr lang="pt-BR" sz="2000" dirty="0" smtClean="0">
                <a:cs typeface="Arial" panose="020B0604020202020204" pitchFamily="34" charset="0"/>
              </a:rPr>
              <a:t>   por </a:t>
            </a:r>
            <a:r>
              <a:rPr lang="pt-BR" sz="2000" dirty="0">
                <a:cs typeface="Arial" panose="020B0604020202020204" pitchFamily="34" charset="0"/>
              </a:rPr>
              <a:t>subtração de vetores: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642" y="1718941"/>
            <a:ext cx="1469486" cy="41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563" y="2204864"/>
            <a:ext cx="4714875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3489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008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 aceleração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O vetor                   </a:t>
            </a:r>
            <a:r>
              <a:rPr lang="pt-BR" sz="2000" dirty="0" smtClean="0">
                <a:cs typeface="Arial" panose="020B0604020202020204" pitchFamily="34" charset="0"/>
              </a:rPr>
              <a:t>      representa </a:t>
            </a:r>
            <a:r>
              <a:rPr lang="pt-BR" sz="2000" dirty="0">
                <a:cs typeface="Arial" panose="020B0604020202020204" pitchFamily="34" charset="0"/>
              </a:rPr>
              <a:t>a aceleração média entre </a:t>
            </a:r>
            <a:r>
              <a:rPr lang="pt-BR" sz="2000" i="1" dirty="0">
                <a:cs typeface="Arial" panose="020B0604020202020204" pitchFamily="34" charset="0"/>
              </a:rPr>
              <a:t>P</a:t>
            </a:r>
            <a:r>
              <a:rPr lang="pt-BR" sz="2000" baseline="-25000" dirty="0">
                <a:cs typeface="Arial" panose="020B0604020202020204" pitchFamily="34" charset="0"/>
              </a:rPr>
              <a:t>1</a:t>
            </a:r>
            <a:r>
              <a:rPr lang="pt-BR" sz="2000" dirty="0">
                <a:cs typeface="Arial" panose="020B0604020202020204" pitchFamily="34" charset="0"/>
              </a:rPr>
              <a:t> e </a:t>
            </a:r>
            <a:r>
              <a:rPr lang="pt-BR" sz="2000" i="1" dirty="0">
                <a:cs typeface="Arial" panose="020B0604020202020204" pitchFamily="34" charset="0"/>
              </a:rPr>
              <a:t>P</a:t>
            </a:r>
            <a:r>
              <a:rPr lang="pt-BR" sz="2000" baseline="-25000" dirty="0">
                <a:cs typeface="Arial" panose="020B0604020202020204" pitchFamily="34" charset="0"/>
              </a:rPr>
              <a:t>2 </a:t>
            </a:r>
            <a:r>
              <a:rPr lang="pt-BR" sz="2000" dirty="0" smtClean="0">
                <a:cs typeface="Arial" panose="020B0604020202020204" pitchFamily="34" charset="0"/>
              </a:rPr>
              <a:t>:</a:t>
            </a:r>
            <a:endParaRPr lang="pt-BR" sz="2000" dirty="0">
              <a:cs typeface="Arial" panose="020B0604020202020204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65" y="1705900"/>
            <a:ext cx="1340526" cy="411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925" y="2348880"/>
            <a:ext cx="424815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14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008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 aceleração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Qualquer partícula que segue uma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trajetória curva </a:t>
            </a:r>
            <a:r>
              <a:rPr lang="pt-BR" sz="2000" dirty="0">
                <a:cs typeface="Arial" panose="020B0604020202020204" pitchFamily="34" charset="0"/>
              </a:rPr>
              <a:t>está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acelerando</a:t>
            </a:r>
            <a:r>
              <a:rPr lang="pt-BR" sz="2000" dirty="0">
                <a:cs typeface="Arial" panose="020B0604020202020204" pitchFamily="34" charset="0"/>
              </a:rPr>
              <a:t>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Quando </a:t>
            </a:r>
            <a:r>
              <a:rPr lang="pt-BR" sz="2000" dirty="0">
                <a:cs typeface="Arial" panose="020B0604020202020204" pitchFamily="34" charset="0"/>
              </a:rPr>
              <a:t>uma partícula se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move</a:t>
            </a:r>
            <a:r>
              <a:rPr lang="pt-BR" sz="2000" dirty="0">
                <a:cs typeface="Arial" panose="020B0604020202020204" pitchFamily="34" charset="0"/>
              </a:rPr>
              <a:t> ao longo de uma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trajetória curva</a:t>
            </a:r>
            <a:r>
              <a:rPr lang="pt-BR" sz="2000" dirty="0">
                <a:cs typeface="Arial" panose="020B0604020202020204" pitchFamily="34" charset="0"/>
              </a:rPr>
              <a:t>, sua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aceleração</a:t>
            </a:r>
            <a:r>
              <a:rPr lang="pt-BR" sz="2000" dirty="0">
                <a:cs typeface="Arial" panose="020B0604020202020204" pitchFamily="34" charset="0"/>
              </a:rPr>
              <a:t> é sempre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diferente de zero</a:t>
            </a:r>
            <a:r>
              <a:rPr lang="pt-BR" sz="2000" dirty="0">
                <a:cs typeface="Arial" panose="020B0604020202020204" pitchFamily="34" charset="0"/>
              </a:rPr>
              <a:t>, mesmo quando o módulo da velocidade for constante. 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Existe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aceleração</a:t>
            </a:r>
            <a:r>
              <a:rPr lang="pt-BR" sz="2000" dirty="0">
                <a:cs typeface="Arial" panose="020B0604020202020204" pitchFamily="34" charset="0"/>
              </a:rPr>
              <a:t>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diferente de zero</a:t>
            </a:r>
            <a:r>
              <a:rPr lang="pt-BR" sz="2000" dirty="0">
                <a:cs typeface="Arial" panose="020B0604020202020204" pitchFamily="34" charset="0"/>
              </a:rPr>
              <a:t> sempre que houver qualquer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variação</a:t>
            </a:r>
            <a:r>
              <a:rPr lang="pt-BR" sz="2000" dirty="0">
                <a:cs typeface="Arial" panose="020B0604020202020204" pitchFamily="34" charset="0"/>
              </a:rPr>
              <a:t> do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vetor velocidade</a:t>
            </a:r>
            <a:r>
              <a:rPr lang="pt-BR" sz="2000" dirty="0">
                <a:cs typeface="Arial" panose="020B0604020202020204" pitchFamily="34" charset="0"/>
              </a:rPr>
              <a:t>, incluindo apenas variação da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direção</a:t>
            </a:r>
            <a:r>
              <a:rPr lang="pt-BR" sz="2000" dirty="0">
                <a:cs typeface="Arial" panose="020B0604020202020204" pitchFamily="34" charset="0"/>
              </a:rPr>
              <a:t> desse vetor, sem variação do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módulo</a:t>
            </a:r>
            <a:r>
              <a:rPr lang="pt-BR" sz="2000" dirty="0">
                <a:cs typeface="Arial" panose="020B0604020202020204" pitchFamily="34" charset="0"/>
              </a:rPr>
              <a:t> da velocidade.</a:t>
            </a:r>
          </a:p>
        </p:txBody>
      </p:sp>
    </p:spTree>
    <p:extLst>
      <p:ext uri="{BB962C8B-B14F-4D97-AF65-F5344CB8AC3E}">
        <p14:creationId xmlns:p14="http://schemas.microsoft.com/office/powerpoint/2010/main" val="3985346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008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 aceleração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Aceleração: trajetória curva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190" y="2234816"/>
            <a:ext cx="4551024" cy="4290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120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008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 aceleração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Aceleração: trajetória em linha reta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492896"/>
            <a:ext cx="4114800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246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008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 aceleração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A aceleração pode ser decomposta em um componente </a:t>
            </a:r>
            <a:r>
              <a:rPr lang="pt-BR" sz="2000" dirty="0" smtClean="0">
                <a:cs typeface="Arial" panose="020B0604020202020204" pitchFamily="34" charset="0"/>
              </a:rPr>
              <a:t>a</a:t>
            </a:r>
            <a:r>
              <a:rPr lang="pt-BR" sz="2000" baseline="-25000" dirty="0" smtClean="0">
                <a:cs typeface="Arial" panose="020B0604020202020204" pitchFamily="34" charset="0"/>
              </a:rPr>
              <a:t>||</a:t>
            </a:r>
            <a:r>
              <a:rPr lang="pt-BR" sz="2000" dirty="0" smtClean="0">
                <a:cs typeface="Arial" panose="020B0604020202020204" pitchFamily="34" charset="0"/>
              </a:rPr>
              <a:t> </a:t>
            </a:r>
            <a:r>
              <a:rPr lang="pt-BR" sz="2000" dirty="0">
                <a:cs typeface="Arial" panose="020B0604020202020204" pitchFamily="34" charset="0"/>
              </a:rPr>
              <a:t>paralelo à trajetória e um componente </a:t>
            </a:r>
            <a:r>
              <a:rPr lang="pt-BR" sz="2000" dirty="0" smtClean="0">
                <a:cs typeface="Arial" panose="020B0604020202020204" pitchFamily="34" charset="0"/>
              </a:rPr>
              <a:t>a</a:t>
            </a:r>
            <a:r>
              <a:rPr lang="pt-BR" sz="2000" baseline="-25000" dirty="0" smtClean="0">
                <a:cs typeface="Arial" panose="020B0604020202020204" pitchFamily="34" charset="0"/>
              </a:rPr>
              <a:t>⊥</a:t>
            </a:r>
            <a:r>
              <a:rPr lang="pt-BR" sz="2000" dirty="0" smtClean="0">
                <a:cs typeface="Arial" panose="020B0604020202020204" pitchFamily="34" charset="0"/>
              </a:rPr>
              <a:t> </a:t>
            </a:r>
            <a:r>
              <a:rPr lang="pt-BR" sz="2000" dirty="0">
                <a:cs typeface="Arial" panose="020B0604020202020204" pitchFamily="34" charset="0"/>
              </a:rPr>
              <a:t>perpendicular à trajetória: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165" y="2708920"/>
            <a:ext cx="4029075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090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008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 aceleração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O efeito da aceleração direcionada (a) em paralelo e (b) ortogonal à velocidade de uma partícula: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636912"/>
            <a:ext cx="8658310" cy="263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3524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008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 aceleração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Vetores de velocidade e aceleração para uma partícula que atravessa um ponto </a:t>
            </a:r>
            <a:r>
              <a:rPr lang="pt-BR" sz="2000" i="1" dirty="0">
                <a:cs typeface="Arial" panose="020B0604020202020204" pitchFamily="34" charset="0"/>
              </a:rPr>
              <a:t>P</a:t>
            </a:r>
            <a:r>
              <a:rPr lang="pt-BR" sz="2000" dirty="0">
                <a:cs typeface="Arial" panose="020B0604020202020204" pitchFamily="34" charset="0"/>
              </a:rPr>
              <a:t> em uma trajetória curva com velocidade constante: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032" y="2708920"/>
            <a:ext cx="35052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593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008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 aceleração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Vetores de velocidade e aceleração para uma partícula que atravessa um ponto </a:t>
            </a:r>
            <a:r>
              <a:rPr lang="pt-BR" sz="2000" i="1" dirty="0">
                <a:cs typeface="Arial" panose="020B0604020202020204" pitchFamily="34" charset="0"/>
              </a:rPr>
              <a:t>P</a:t>
            </a:r>
            <a:r>
              <a:rPr lang="pt-BR" sz="2000" dirty="0">
                <a:cs typeface="Arial" panose="020B0604020202020204" pitchFamily="34" charset="0"/>
              </a:rPr>
              <a:t> em uma trajetória curva com velocidade crescente: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331" y="2852936"/>
            <a:ext cx="397192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9976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008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 aceleração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Vetores de velocidade e aceleração para uma partícula que atravessa um ponto </a:t>
            </a:r>
            <a:r>
              <a:rPr lang="pt-BR" sz="2000" i="1" dirty="0">
                <a:cs typeface="Arial" panose="020B0604020202020204" pitchFamily="34" charset="0"/>
              </a:rPr>
              <a:t>P</a:t>
            </a:r>
            <a:r>
              <a:rPr lang="pt-BR" sz="2000" dirty="0">
                <a:cs typeface="Arial" panose="020B0604020202020204" pitchFamily="34" charset="0"/>
              </a:rPr>
              <a:t> em uma trajetória curva com velocidade decrescente: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791" y="2996952"/>
            <a:ext cx="3781425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015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45560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Movimento de um projétil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Um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projétil</a:t>
            </a:r>
            <a:r>
              <a:rPr lang="pt-BR" sz="2000" dirty="0">
                <a:cs typeface="Arial" panose="020B0604020202020204" pitchFamily="34" charset="0"/>
              </a:rPr>
              <a:t> é qualquer corpo lançado com uma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velocidade inicial</a:t>
            </a:r>
            <a:r>
              <a:rPr lang="pt-BR" sz="2000" dirty="0">
                <a:cs typeface="Arial" panose="020B0604020202020204" pitchFamily="34" charset="0"/>
              </a:rPr>
              <a:t> e que segue uma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trajetória determinada</a:t>
            </a:r>
            <a:r>
              <a:rPr lang="pt-BR" sz="2000" dirty="0">
                <a:cs typeface="Arial" panose="020B0604020202020204" pitchFamily="34" charset="0"/>
              </a:rPr>
              <a:t> exclusivamente pela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aceleração da gravidade</a:t>
            </a:r>
            <a:r>
              <a:rPr lang="pt-BR" sz="2000" dirty="0">
                <a:cs typeface="Arial" panose="020B0604020202020204" pitchFamily="34" charset="0"/>
              </a:rPr>
              <a:t> e pela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resistência do ar</a:t>
            </a:r>
            <a:r>
              <a:rPr lang="pt-BR" sz="2000" dirty="0">
                <a:cs typeface="Arial" panose="020B0604020202020204" pitchFamily="34" charset="0"/>
              </a:rPr>
              <a:t>. 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Uma </a:t>
            </a:r>
            <a:r>
              <a:rPr lang="pt-BR" sz="2000" dirty="0">
                <a:cs typeface="Arial" panose="020B0604020202020204" pitchFamily="34" charset="0"/>
              </a:rPr>
              <a:t>bola de beisebol batida, uma bola de futebol chutada e uma bala disparada por uma arma de fogo são exemplos de projéteis. 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A </a:t>
            </a:r>
            <a:r>
              <a:rPr lang="pt-BR" sz="2000" dirty="0">
                <a:cs typeface="Arial" panose="020B0604020202020204" pitchFamily="34" charset="0"/>
              </a:rPr>
              <a:t>curva descrita pelo projétil é a sua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trajetória</a:t>
            </a:r>
            <a:r>
              <a:rPr lang="pt-BR" sz="2000" dirty="0"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5220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45560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Movimento de um projétil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988840"/>
            <a:ext cx="4808562" cy="4030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162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45560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Movimento de um projétil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47000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pt-BR" sz="2000" dirty="0">
                <a:cs typeface="Arial" panose="020B0604020202020204" pitchFamily="34" charset="0"/>
              </a:rPr>
              <a:t>A bola da esquerda é largada do repouso e a bola da direita é projetada horizontalmente ao mesmo tempo: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166142"/>
            <a:ext cx="3219486" cy="399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8893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45560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Movimento de um projétil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Se desprezarmos 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resistência do ar</a:t>
            </a:r>
            <a:r>
              <a:rPr lang="pt-BR" sz="2000" dirty="0">
                <a:cs typeface="Arial" panose="020B0604020202020204" pitchFamily="34" charset="0"/>
              </a:rPr>
              <a:t>, a trajetória de um projétil é uma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combinação</a:t>
            </a:r>
            <a:r>
              <a:rPr lang="pt-BR" sz="2000" dirty="0">
                <a:cs typeface="Arial" panose="020B0604020202020204" pitchFamily="34" charset="0"/>
              </a:rPr>
              <a:t> do movimento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horizontal</a:t>
            </a:r>
            <a:r>
              <a:rPr lang="pt-BR" sz="2000" dirty="0">
                <a:cs typeface="Arial" panose="020B0604020202020204" pitchFamily="34" charset="0"/>
              </a:rPr>
              <a:t> com 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velocidade constante</a:t>
            </a:r>
            <a:r>
              <a:rPr lang="pt-BR" sz="2000" dirty="0">
                <a:cs typeface="Arial" panose="020B0604020202020204" pitchFamily="34" charset="0"/>
              </a:rPr>
              <a:t> e do movimento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vertical</a:t>
            </a:r>
            <a:r>
              <a:rPr lang="pt-BR" sz="2000" dirty="0">
                <a:cs typeface="Arial" panose="020B0604020202020204" pitchFamily="34" charset="0"/>
              </a:rPr>
              <a:t> com 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aceleração constante</a:t>
            </a:r>
            <a:r>
              <a:rPr lang="pt-BR" sz="2000" dirty="0">
                <a:cs typeface="Arial" panose="020B0604020202020204" pitchFamily="34" charset="0"/>
              </a:rPr>
              <a:t>: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068960"/>
            <a:ext cx="7488832" cy="3294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174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437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Movimento circular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Quando uma partícula se move ao longo de uma circunferência com velocidade escalar constante, dizemos que ela descreve um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movimento circular uniforme</a:t>
            </a:r>
            <a:r>
              <a:rPr lang="pt-BR" sz="2000" dirty="0">
                <a:cs typeface="Arial" panose="020B0604020202020204" pitchFamily="34" charset="0"/>
              </a:rPr>
              <a:t>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32" y="2780928"/>
            <a:ext cx="8604448" cy="2720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534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437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Velocidade relativa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Os pilotos de uma exibição aérea enfrentam um problema complicado envolvendo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velocidade relativa</a:t>
            </a:r>
            <a:r>
              <a:rPr lang="pt-BR" sz="2000" dirty="0">
                <a:cs typeface="Arial" panose="020B0604020202020204" pitchFamily="34" charset="0"/>
              </a:rPr>
              <a:t>. 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Eles devem considerar a velocidade relativa do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ar sobre as asas</a:t>
            </a:r>
            <a:r>
              <a:rPr lang="pt-BR" sz="2000" dirty="0">
                <a:cs typeface="Arial" panose="020B0604020202020204" pitchFamily="34" charset="0"/>
              </a:rPr>
              <a:t>, a velocidade relativa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entre os aviões </a:t>
            </a:r>
            <a:r>
              <a:rPr lang="pt-BR" sz="2000" dirty="0">
                <a:cs typeface="Arial" panose="020B0604020202020204" pitchFamily="34" charset="0"/>
              </a:rPr>
              <a:t>e a velocidade relativa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em relação ao público</a:t>
            </a:r>
            <a:r>
              <a:rPr lang="pt-BR" sz="2000" dirty="0">
                <a:cs typeface="Arial" panose="020B0604020202020204" pitchFamily="34" charset="0"/>
              </a:rPr>
              <a:t>: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717032"/>
            <a:ext cx="3922563" cy="2628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15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437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Velocidade relativa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Uma passageira atravessando um vagão de trem de um lado a outro: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738" y="2276872"/>
            <a:ext cx="5724525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3359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437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Velocidade relativa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Posição da mulher em relação ao sistema de referência do ciclista e ao sistema de referência do trem: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994" y="2636912"/>
            <a:ext cx="5848350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498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437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Velocidade relativa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Diagrama vetorial para a velocidade da mulher em relação ao solo (o sistema de referência do ciclista),        </a:t>
            </a:r>
            <a:r>
              <a:rPr lang="pt-BR" sz="2000" dirty="0" smtClean="0">
                <a:cs typeface="Arial" panose="020B0604020202020204" pitchFamily="34" charset="0"/>
              </a:rPr>
              <a:t>  : </a:t>
            </a:r>
            <a:endParaRPr lang="pt-BR" sz="2000" dirty="0">
              <a:cs typeface="Arial" panose="020B0604020202020204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2204864"/>
            <a:ext cx="576064" cy="472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604" y="2932137"/>
            <a:ext cx="1714500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156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710</Words>
  <Application>Microsoft Office PowerPoint</Application>
  <PresentationFormat>Apresentação na tela (4:3)</PresentationFormat>
  <Paragraphs>62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2" baseType="lpstr">
      <vt:lpstr>Arial</vt:lpstr>
      <vt:lpstr>Calibri</vt:lpstr>
      <vt:lpstr>Symbol</vt:lpstr>
      <vt:lpstr>Trebuchet MS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Guimaraes, Marcos</dc:creator>
  <cp:lastModifiedBy>de Araujo Rodrigues, Mariana</cp:lastModifiedBy>
  <cp:revision>63</cp:revision>
  <dcterms:created xsi:type="dcterms:W3CDTF">2014-10-30T14:07:03Z</dcterms:created>
  <dcterms:modified xsi:type="dcterms:W3CDTF">2016-05-25T17:35:01Z</dcterms:modified>
</cp:coreProperties>
</file>