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A157"/>
    <a:srgbClr val="197B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32" autoAdjust="0"/>
    <p:restoredTop sz="94660"/>
  </p:normalViewPr>
  <p:slideViewPr>
    <p:cSldViewPr>
      <p:cViewPr varScale="1">
        <p:scale>
          <a:sx n="92" d="100"/>
          <a:sy n="92" d="100"/>
        </p:scale>
        <p:origin x="12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:\ARTE\______UNIVERSITARIOS\Templates\SEARS_I\SEARS_template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84" y="0"/>
            <a:ext cx="91609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/>
          <p:cNvSpPr>
            <a:spLocks noGrp="1" noChangeArrowheads="1"/>
          </p:cNvSpPr>
          <p:nvPr userDrawn="1"/>
        </p:nvSpPr>
        <p:spPr bwMode="auto">
          <a:xfrm>
            <a:off x="4927671" y="6597352"/>
            <a:ext cx="3964809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aseline="0" dirty="0"/>
              <a:t>© </a:t>
            </a:r>
            <a:r>
              <a:rPr lang="pt-BR" sz="1200" baseline="0" dirty="0" smtClean="0"/>
              <a:t>2016 Pearson. Todos os direitos reservados.</a:t>
            </a:r>
            <a:endParaRPr lang="pt-BR" sz="1200" baseline="0" dirty="0"/>
          </a:p>
        </p:txBody>
      </p:sp>
      <p:sp>
        <p:nvSpPr>
          <p:cNvPr id="9" name="Rectangle 8"/>
          <p:cNvSpPr>
            <a:spLocks noGrp="1" noChangeArrowheads="1"/>
          </p:cNvSpPr>
          <p:nvPr userDrawn="1"/>
        </p:nvSpPr>
        <p:spPr bwMode="auto">
          <a:xfrm>
            <a:off x="249622" y="6597352"/>
            <a:ext cx="3214710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 smtClean="0"/>
              <a:t>slide </a:t>
            </a:r>
            <a:fld id="{4FA60421-03D3-4659-A04A-6C3A1065A232}" type="slidenum">
              <a:rPr lang="pt-BR" sz="1200" baseline="0" smtClean="0"/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pt-BR" sz="1200" baseline="0" dirty="0" smtClean="0"/>
          </a:p>
          <a:p>
            <a:pPr algn="l"/>
            <a:endParaRPr lang="pt-BR" sz="1200" baseline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25/05/2016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:\ARTE\______UNIVERSITARIOS\Templates\SEARS_I\SEARS_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395536" y="2708920"/>
            <a:ext cx="5472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latin typeface="Trebuchet MS" panose="020B0603020202020204" pitchFamily="34" charset="0"/>
              </a:rPr>
              <a:t>Capítulo 1:</a:t>
            </a:r>
          </a:p>
          <a:p>
            <a:r>
              <a:rPr lang="pt-BR" sz="40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Unidades, grandezas físicas e vetores</a:t>
            </a:r>
          </a:p>
          <a:p>
            <a:endParaRPr lang="pt-BR" sz="4000" b="1" dirty="0"/>
          </a:p>
          <a:p>
            <a:endParaRPr lang="pt-BR" sz="4000" b="1" dirty="0"/>
          </a:p>
        </p:txBody>
      </p:sp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4927671" y="6597352"/>
            <a:ext cx="3964809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aseline="0" dirty="0"/>
              <a:t>© </a:t>
            </a:r>
            <a:r>
              <a:rPr lang="pt-BR" sz="1200" baseline="0" dirty="0" smtClean="0"/>
              <a:t>2016 Pearson. Todos os direitos reservados.</a:t>
            </a:r>
            <a:endParaRPr lang="pt-BR" sz="1200" baseline="0" dirty="0"/>
          </a:p>
        </p:txBody>
      </p:sp>
      <p:sp>
        <p:nvSpPr>
          <p:cNvPr id="11" name="Rectangle 8"/>
          <p:cNvSpPr>
            <a:spLocks noGrp="1" noChangeArrowheads="1"/>
          </p:cNvSpPr>
          <p:nvPr/>
        </p:nvSpPr>
        <p:spPr bwMode="auto">
          <a:xfrm>
            <a:off x="35496" y="6527054"/>
            <a:ext cx="3214710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200" baseline="0" dirty="0"/>
          </a:p>
        </p:txBody>
      </p:sp>
    </p:spTree>
    <p:extLst>
      <p:ext uri="{BB962C8B-B14F-4D97-AF65-F5344CB8AC3E}">
        <p14:creationId xmlns:p14="http://schemas.microsoft.com/office/powerpoint/2010/main" val="1504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77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Objetivos de aprendizagem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que é uma teoria física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Os quatro passos que você pode usar para resolver quaisquer problemas físicos.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Três </a:t>
            </a:r>
            <a:r>
              <a:rPr lang="pt-BR" sz="2000" dirty="0">
                <a:cs typeface="Arial" panose="020B0604020202020204" pitchFamily="34" charset="0"/>
              </a:rPr>
              <a:t>grandezas fundamentais da física e as grandezas que os físicos usam para medi-las.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Como </a:t>
            </a:r>
            <a:r>
              <a:rPr lang="pt-BR" sz="2000" dirty="0">
                <a:cs typeface="Arial" panose="020B0604020202020204" pitchFamily="34" charset="0"/>
              </a:rPr>
              <a:t>trabalhar com grandezas em seus cálculos.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Como </a:t>
            </a:r>
            <a:r>
              <a:rPr lang="pt-BR" sz="2000" dirty="0">
                <a:cs typeface="Arial" panose="020B0604020202020204" pitchFamily="34" charset="0"/>
              </a:rPr>
              <a:t>manter o controle de algarismos significativos em seus cálculos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859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77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Objetivos de aprendizagem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Como fazer estimativas grosseiras de ordens de grandeza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 diferença entre escalares e vetores, e como somar e subtrair vetores graficamente.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 </a:t>
            </a:r>
            <a:r>
              <a:rPr lang="pt-BR" sz="2000" dirty="0">
                <a:cs typeface="Arial" panose="020B0604020202020204" pitchFamily="34" charset="0"/>
              </a:rPr>
              <a:t>que são os componentes de um vetor e como usá-los.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 </a:t>
            </a:r>
            <a:r>
              <a:rPr lang="pt-BR" sz="2000" dirty="0">
                <a:cs typeface="Arial" panose="020B0604020202020204" pitchFamily="34" charset="0"/>
              </a:rPr>
              <a:t>que são vetores unitários e como usá-los com componentes para descrever vetores.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Duas </a:t>
            </a:r>
            <a:r>
              <a:rPr lang="pt-BR" sz="2000" dirty="0">
                <a:cs typeface="Arial" panose="020B0604020202020204" pitchFamily="34" charset="0"/>
              </a:rPr>
              <a:t>maneiras de multiplicar vetores: o produto escalar e o produto vetorial.</a:t>
            </a:r>
          </a:p>
        </p:txBody>
      </p:sp>
    </p:spTree>
    <p:extLst>
      <p:ext uri="{BB962C8B-B14F-4D97-AF65-F5344CB8AC3E}">
        <p14:creationId xmlns:p14="http://schemas.microsoft.com/office/powerpoint/2010/main" val="405564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87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A natureza da física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 física é uma ciência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experimental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 </a:t>
            </a:r>
            <a:r>
              <a:rPr lang="pt-BR" sz="2000" dirty="0">
                <a:cs typeface="Arial" panose="020B0604020202020204" pitchFamily="34" charset="0"/>
              </a:rPr>
              <a:t>físico observa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fenômenos</a:t>
            </a:r>
            <a:r>
              <a:rPr lang="pt-BR" sz="2000" dirty="0">
                <a:cs typeface="Arial" panose="020B0604020202020204" pitchFamily="34" charset="0"/>
              </a:rPr>
              <a:t> naturais e tenta encontrar 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padrões</a:t>
            </a:r>
            <a:r>
              <a:rPr lang="pt-BR" sz="2000" dirty="0">
                <a:cs typeface="Arial" panose="020B0604020202020204" pitchFamily="34" charset="0"/>
              </a:rPr>
              <a:t> e 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princípios</a:t>
            </a:r>
            <a:r>
              <a:rPr lang="pt-BR" sz="2000" dirty="0">
                <a:cs typeface="Arial" panose="020B0604020202020204" pitchFamily="34" charset="0"/>
              </a:rPr>
              <a:t> que relacionam esses fenômenos.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Esses </a:t>
            </a:r>
            <a:r>
              <a:rPr lang="pt-BR" sz="2000" dirty="0">
                <a:cs typeface="Arial" panose="020B0604020202020204" pitchFamily="34" charset="0"/>
              </a:rPr>
              <a:t>padrões são denominados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teorias </a:t>
            </a:r>
            <a:r>
              <a:rPr lang="pt-BR" sz="2000" dirty="0">
                <a:cs typeface="Arial" panose="020B0604020202020204" pitchFamily="34" charset="0"/>
              </a:rPr>
              <a:t>físicas ou, quando bem estabelecidos e bastante utilizados,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leis</a:t>
            </a:r>
            <a:r>
              <a:rPr lang="pt-BR" sz="2000" dirty="0">
                <a:cs typeface="Arial" panose="020B0604020202020204" pitchFamily="34" charset="0"/>
              </a:rPr>
              <a:t> ou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princípios</a:t>
            </a:r>
            <a:r>
              <a:rPr lang="pt-BR" sz="2000" dirty="0">
                <a:cs typeface="Arial" panose="020B0604020202020204" pitchFamily="34" charset="0"/>
              </a:rPr>
              <a:t> físicos.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Para </a:t>
            </a:r>
            <a:r>
              <a:rPr lang="pt-BR" sz="2000" dirty="0">
                <a:cs typeface="Arial" panose="020B0604020202020204" pitchFamily="34" charset="0"/>
              </a:rPr>
              <a:t>desenvolver uma teoria física, o físico deve aprender a fazer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perguntas pertinentes</a:t>
            </a:r>
            <a:r>
              <a:rPr lang="pt-BR" sz="2000" dirty="0">
                <a:cs typeface="Arial" panose="020B0604020202020204" pitchFamily="34" charset="0"/>
              </a:rPr>
              <a:t>, projetar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experimentos</a:t>
            </a:r>
            <a:r>
              <a:rPr lang="pt-BR" sz="2000" dirty="0">
                <a:cs typeface="Arial" panose="020B0604020202020204" pitchFamily="34" charset="0"/>
              </a:rPr>
              <a:t> para tentar respondê-las e tirar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conclusões</a:t>
            </a:r>
            <a:r>
              <a:rPr lang="pt-BR" sz="2000" dirty="0">
                <a:cs typeface="Arial" panose="020B0604020202020204" pitchFamily="34" charset="0"/>
              </a:rPr>
              <a:t> apropriadas dos resultados.</a:t>
            </a:r>
          </a:p>
        </p:txBody>
      </p:sp>
    </p:spTree>
    <p:extLst>
      <p:ext uri="{BB962C8B-B14F-4D97-AF65-F5344CB8AC3E}">
        <p14:creationId xmlns:p14="http://schemas.microsoft.com/office/powerpoint/2010/main" val="339565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5346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Solução de problemas de física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Aprender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resolver problemas</a:t>
            </a:r>
            <a:r>
              <a:rPr lang="pt-BR" sz="2000" dirty="0">
                <a:cs typeface="Arial" panose="020B0604020202020204" pitchFamily="34" charset="0"/>
              </a:rPr>
              <a:t> é </a:t>
            </a:r>
            <a:r>
              <a:rPr lang="pt-BR" sz="2000" dirty="0" smtClean="0">
                <a:cs typeface="Arial" panose="020B0604020202020204" pitchFamily="34" charset="0"/>
              </a:rPr>
              <a:t>fundamental.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Você </a:t>
            </a:r>
            <a:r>
              <a:rPr lang="pt-BR" sz="2000" dirty="0">
                <a:cs typeface="Arial" panose="020B0604020202020204" pitchFamily="34" charset="0"/>
              </a:rPr>
              <a:t>não sabe </a:t>
            </a:r>
            <a:r>
              <a:rPr lang="pt-BR" sz="2000" dirty="0" smtClean="0">
                <a:cs typeface="Arial" panose="020B0604020202020204" pitchFamily="34" charset="0"/>
              </a:rPr>
              <a:t>física </a:t>
            </a:r>
            <a:r>
              <a:rPr lang="pt-BR" sz="2000" dirty="0">
                <a:cs typeface="Arial" panose="020B0604020202020204" pitchFamily="34" charset="0"/>
              </a:rPr>
              <a:t>a menos que você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faça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 smtClean="0">
                <a:cs typeface="Arial" panose="020B0604020202020204" pitchFamily="34" charset="0"/>
              </a:rPr>
              <a:t>física.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Estratégia </a:t>
            </a:r>
            <a:r>
              <a:rPr lang="pt-BR" sz="2000" dirty="0">
                <a:cs typeface="Arial" panose="020B0604020202020204" pitchFamily="34" charset="0"/>
              </a:rPr>
              <a:t>para a solução de problemas:</a:t>
            </a:r>
          </a:p>
          <a:p>
            <a:pPr marL="1274400" lvl="2" indent="-3600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11A157"/>
                </a:solidFill>
                <a:cs typeface="Arial" panose="020B0604020202020204" pitchFamily="34" charset="0"/>
              </a:rPr>
              <a:t>IDENTIFICAR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os conceitos relevantes;</a:t>
            </a:r>
          </a:p>
          <a:p>
            <a:pPr marL="1274400" lvl="2" indent="-3600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11A157"/>
                </a:solidFill>
                <a:cs typeface="Arial" panose="020B0604020202020204" pitchFamily="34" charset="0"/>
              </a:rPr>
              <a:t>PREPARAR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o problema;</a:t>
            </a:r>
          </a:p>
          <a:p>
            <a:pPr marL="1274400" lvl="2" indent="-3600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11A157"/>
                </a:solidFill>
                <a:cs typeface="Arial" panose="020B0604020202020204" pitchFamily="34" charset="0"/>
              </a:rPr>
              <a:t>EXECUTAR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a solução;</a:t>
            </a:r>
          </a:p>
          <a:p>
            <a:pPr marL="1274400" lvl="2" indent="-3600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11A157"/>
                </a:solidFill>
                <a:cs typeface="Arial" panose="020B0604020202020204" pitchFamily="34" charset="0"/>
              </a:rPr>
              <a:t>AVALIAR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sua resposta.</a:t>
            </a:r>
          </a:p>
        </p:txBody>
      </p:sp>
    </p:spTree>
    <p:extLst>
      <p:ext uri="{BB962C8B-B14F-4D97-AF65-F5344CB8AC3E}">
        <p14:creationId xmlns:p14="http://schemas.microsoft.com/office/powerpoint/2010/main" val="377406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5346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Solução de problemas de física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Na física,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modelo</a:t>
            </a:r>
            <a:r>
              <a:rPr lang="pt-BR" sz="2000" dirty="0">
                <a:cs typeface="Arial" panose="020B0604020202020204" pitchFamily="34" charset="0"/>
              </a:rPr>
              <a:t> é uma versão simplificada de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sistema</a:t>
            </a:r>
            <a:r>
              <a:rPr lang="pt-BR" sz="2000" dirty="0">
                <a:cs typeface="Arial" panose="020B0604020202020204" pitchFamily="34" charset="0"/>
              </a:rPr>
              <a:t> físico que seria complicado demais para analisar com detalhes completos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Para simplificar a análise de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(</a:t>
            </a:r>
            <a:r>
              <a:rPr lang="pt-BR" sz="2000" dirty="0" smtClean="0">
                <a:solidFill>
                  <a:srgbClr val="11A157"/>
                </a:solidFill>
                <a:cs typeface="Arial" panose="020B0604020202020204" pitchFamily="34" charset="0"/>
              </a:rPr>
              <a:t>a)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uma bola de beisebol arremessada ao ar, usamos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(b) </a:t>
            </a:r>
            <a:r>
              <a:rPr lang="pt-BR" sz="2000" dirty="0">
                <a:cs typeface="Arial" panose="020B0604020202020204" pitchFamily="34" charset="0"/>
              </a:rPr>
              <a:t>um modelo idealizado: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48" y="3645978"/>
            <a:ext cx="3328960" cy="2447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645024"/>
            <a:ext cx="3614156" cy="219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94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47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Padrões e Unidades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Qualquer número usado para descrever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quantitativamente</a:t>
            </a:r>
            <a:r>
              <a:rPr lang="pt-BR" sz="2000" dirty="0">
                <a:cs typeface="Arial" panose="020B0604020202020204" pitchFamily="34" charset="0"/>
              </a:rPr>
              <a:t> um fenômeno físico denomina-se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grandeza física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Algumas </a:t>
            </a:r>
            <a:r>
              <a:rPr lang="pt-BR" sz="2000" dirty="0">
                <a:cs typeface="Arial" panose="020B0604020202020204" pitchFamily="34" charset="0"/>
              </a:rPr>
              <a:t>grandezas físicas são tão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fundamentais</a:t>
            </a:r>
            <a:r>
              <a:rPr lang="pt-BR" sz="2000" dirty="0">
                <a:cs typeface="Arial" panose="020B0604020202020204" pitchFamily="34" charset="0"/>
              </a:rPr>
              <a:t> que podemos defini-las somente descrevendo como elas são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medidas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Tal </a:t>
            </a:r>
            <a:r>
              <a:rPr lang="pt-BR" sz="2000" dirty="0">
                <a:cs typeface="Arial" panose="020B0604020202020204" pitchFamily="34" charset="0"/>
              </a:rPr>
              <a:t>definição denomina-se definição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operacional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Quando </a:t>
            </a:r>
            <a:r>
              <a:rPr lang="pt-BR" sz="2000" dirty="0">
                <a:cs typeface="Arial" panose="020B0604020202020204" pitchFamily="34" charset="0"/>
              </a:rPr>
              <a:t>medimos uma grandeza, sempre a comparamos com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padrão</a:t>
            </a:r>
            <a:r>
              <a:rPr lang="pt-BR" sz="2000" dirty="0">
                <a:cs typeface="Arial" panose="020B0604020202020204" pitchFamily="34" charset="0"/>
              </a:rPr>
              <a:t> de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referência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Tal </a:t>
            </a:r>
            <a:r>
              <a:rPr lang="pt-BR" sz="2000" dirty="0">
                <a:cs typeface="Arial" panose="020B0604020202020204" pitchFamily="34" charset="0"/>
              </a:rPr>
              <a:t>padrão define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unidade</a:t>
            </a:r>
            <a:r>
              <a:rPr lang="pt-BR" sz="2000" dirty="0">
                <a:cs typeface="Arial" panose="020B0604020202020204" pitchFamily="34" charset="0"/>
              </a:rPr>
              <a:t> da grandeza.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6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447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Padrões e Unidades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sistema de unidades usado por cientistas e engenheiros é conhecido oficialmente como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Sistema Internacional</a:t>
            </a:r>
            <a:r>
              <a:rPr lang="pt-BR" sz="2000" dirty="0">
                <a:cs typeface="Arial" panose="020B0604020202020204" pitchFamily="34" charset="0"/>
              </a:rPr>
              <a:t> ou SI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Algumas unidades de medida de comprimento, massa e tempo: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SzPct val="100000"/>
            </a:pP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5024"/>
            <a:ext cx="8045362" cy="225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590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0767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Utilização e conversão </a:t>
            </a:r>
            <a:endParaRPr lang="pt-BR" sz="2800" b="1" dirty="0" smtClean="0">
              <a:solidFill>
                <a:srgbClr val="197B52"/>
              </a:solidFill>
              <a:latin typeface="Trebuchet MS" panose="020B0603020202020204" pitchFamily="34" charset="0"/>
            </a:endParaRPr>
          </a:p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de </a:t>
            </a:r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unidades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Usamos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equações</a:t>
            </a:r>
            <a:r>
              <a:rPr lang="pt-BR" sz="2000" dirty="0">
                <a:cs typeface="Arial" panose="020B0604020202020204" pitchFamily="34" charset="0"/>
              </a:rPr>
              <a:t> para relacionar grandezas físicas representadas por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símbolos</a:t>
            </a:r>
            <a:r>
              <a:rPr lang="pt-BR" sz="2000" dirty="0">
                <a:cs typeface="Arial" panose="020B0604020202020204" pitchFamily="34" charset="0"/>
              </a:rPr>
              <a:t> algébricos.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A </a:t>
            </a:r>
            <a:r>
              <a:rPr lang="pt-BR" sz="2000" dirty="0">
                <a:cs typeface="Arial" panose="020B0604020202020204" pitchFamily="34" charset="0"/>
              </a:rPr>
              <a:t>cada símbolo algébrico, sempre associamos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número</a:t>
            </a:r>
            <a:r>
              <a:rPr lang="pt-BR" sz="2000" dirty="0">
                <a:cs typeface="Arial" panose="020B0604020202020204" pitchFamily="34" charset="0"/>
              </a:rPr>
              <a:t> e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unidade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Uma </a:t>
            </a:r>
            <a:r>
              <a:rPr lang="pt-BR" sz="2000" dirty="0">
                <a:cs typeface="Arial" panose="020B0604020202020204" pitchFamily="34" charset="0"/>
              </a:rPr>
              <a:t>equação deve sempre possuir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coerência dimensional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Não </a:t>
            </a:r>
            <a:r>
              <a:rPr lang="pt-BR" sz="2000" dirty="0">
                <a:cs typeface="Arial" panose="020B0604020202020204" pitchFamily="34" charset="0"/>
              </a:rPr>
              <a:t>se pode </a:t>
            </a:r>
            <a:r>
              <a:rPr lang="pt-BR" sz="2000" dirty="0" smtClean="0">
                <a:cs typeface="Arial" panose="020B0604020202020204" pitchFamily="34" charset="0"/>
              </a:rPr>
              <a:t>“somar </a:t>
            </a:r>
            <a:r>
              <a:rPr lang="pt-BR" sz="2000" dirty="0">
                <a:cs typeface="Arial" panose="020B0604020202020204" pitchFamily="34" charset="0"/>
              </a:rPr>
              <a:t>automóvel com </a:t>
            </a:r>
            <a:r>
              <a:rPr lang="pt-BR" sz="2000" dirty="0" smtClean="0">
                <a:cs typeface="Arial" panose="020B0604020202020204" pitchFamily="34" charset="0"/>
              </a:rPr>
              <a:t>maçã”.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Dois </a:t>
            </a:r>
            <a:r>
              <a:rPr lang="pt-BR" sz="2000" dirty="0">
                <a:cs typeface="Arial" panose="020B0604020202020204" pitchFamily="34" charset="0"/>
              </a:rPr>
              <a:t>termos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só</a:t>
            </a:r>
            <a:r>
              <a:rPr lang="pt-BR" sz="2000" dirty="0">
                <a:cs typeface="Arial" panose="020B0604020202020204" pitchFamily="34" charset="0"/>
              </a:rPr>
              <a:t> podem ser somados ou equacionados caso possuam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mesma</a:t>
            </a:r>
            <a:r>
              <a:rPr lang="pt-BR" sz="2000" dirty="0">
                <a:cs typeface="Arial" panose="020B0604020202020204" pitchFamily="34" charset="0"/>
              </a:rPr>
              <a:t> unidade.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SzPct val="100000"/>
            </a:pP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14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0479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Incerteza e algarismos </a:t>
            </a:r>
            <a:endParaRPr lang="pt-BR" sz="2800" b="1" dirty="0" smtClean="0">
              <a:solidFill>
                <a:srgbClr val="197B52"/>
              </a:solidFill>
              <a:latin typeface="Trebuchet MS" panose="020B0603020202020204" pitchFamily="34" charset="0"/>
            </a:endParaRPr>
          </a:p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significativos</a:t>
            </a:r>
            <a:endParaRPr lang="pt-BR" sz="2800" b="1" dirty="0">
              <a:solidFill>
                <a:srgbClr val="197B52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1900" dirty="0">
                <a:cs typeface="Arial" panose="020B0604020202020204" pitchFamily="34" charset="0"/>
              </a:rPr>
              <a:t>Geralmente, indicamos a </a:t>
            </a:r>
            <a:r>
              <a:rPr lang="pt-BR" sz="1900" dirty="0" smtClean="0">
                <a:solidFill>
                  <a:srgbClr val="11A157"/>
                </a:solidFill>
                <a:cs typeface="Arial" panose="020B0604020202020204" pitchFamily="34" charset="0"/>
              </a:rPr>
              <a:t>exatidão</a:t>
            </a:r>
            <a:r>
              <a:rPr lang="pt-BR" sz="1900" dirty="0" smtClean="0">
                <a:cs typeface="Arial" panose="020B0604020202020204" pitchFamily="34" charset="0"/>
              </a:rPr>
              <a:t> </a:t>
            </a:r>
            <a:r>
              <a:rPr lang="pt-BR" sz="1900" dirty="0">
                <a:cs typeface="Arial" panose="020B0604020202020204" pitchFamily="34" charset="0"/>
              </a:rPr>
              <a:t>de um valor medido escrevendo o número seguido do </a:t>
            </a:r>
            <a:r>
              <a:rPr lang="pt-BR" sz="1900" dirty="0" smtClean="0">
                <a:cs typeface="Arial" panose="020B0604020202020204" pitchFamily="34" charset="0"/>
              </a:rPr>
              <a:t>sinal e </a:t>
            </a:r>
            <a:r>
              <a:rPr lang="pt-BR" sz="1900" dirty="0">
                <a:cs typeface="Arial" panose="020B0604020202020204" pitchFamily="34" charset="0"/>
              </a:rPr>
              <a:t>um segundo número indicando a incerteza da medida.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1900" dirty="0" smtClean="0">
                <a:cs typeface="Arial" panose="020B0604020202020204" pitchFamily="34" charset="0"/>
              </a:rPr>
              <a:t>Também </a:t>
            </a:r>
            <a:r>
              <a:rPr lang="pt-BR" sz="1900" dirty="0">
                <a:cs typeface="Arial" panose="020B0604020202020204" pitchFamily="34" charset="0"/>
              </a:rPr>
              <a:t>podemos indicar a </a:t>
            </a:r>
            <a:r>
              <a:rPr lang="pt-BR" sz="1900" dirty="0">
                <a:solidFill>
                  <a:srgbClr val="11A157"/>
                </a:solidFill>
                <a:cs typeface="Arial" panose="020B0604020202020204" pitchFamily="34" charset="0"/>
              </a:rPr>
              <a:t>acurácia</a:t>
            </a:r>
            <a:r>
              <a:rPr lang="pt-BR" sz="1900" dirty="0">
                <a:cs typeface="Arial" panose="020B0604020202020204" pitchFamily="34" charset="0"/>
              </a:rPr>
              <a:t> mediante o máximo erro fracionário ou erro percentual</a:t>
            </a:r>
            <a:r>
              <a:rPr lang="pt-BR" sz="1900" dirty="0" smtClean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1900" dirty="0">
                <a:cs typeface="Arial" panose="020B0604020202020204" pitchFamily="34" charset="0"/>
              </a:rPr>
              <a:t>Quando </a:t>
            </a:r>
            <a:r>
              <a:rPr lang="pt-BR" sz="1900" dirty="0" smtClean="0">
                <a:cs typeface="Arial" panose="020B0604020202020204" pitchFamily="34" charset="0"/>
              </a:rPr>
              <a:t>números </a:t>
            </a:r>
            <a:r>
              <a:rPr lang="pt-BR" sz="1900" dirty="0">
                <a:cs typeface="Arial" panose="020B0604020202020204" pitchFamily="34" charset="0"/>
              </a:rPr>
              <a:t>com incertezas </a:t>
            </a:r>
            <a:r>
              <a:rPr lang="pt-BR" sz="1900" dirty="0" smtClean="0">
                <a:cs typeface="Arial" panose="020B0604020202020204" pitchFamily="34" charset="0"/>
              </a:rPr>
              <a:t>são usados para </a:t>
            </a:r>
            <a:r>
              <a:rPr lang="pt-BR" sz="1900" dirty="0">
                <a:cs typeface="Arial" panose="020B0604020202020204" pitchFamily="34" charset="0"/>
              </a:rPr>
              <a:t>calcular outros números, os resultados obtidos </a:t>
            </a:r>
            <a:r>
              <a:rPr lang="pt-BR" sz="1900" dirty="0">
                <a:solidFill>
                  <a:srgbClr val="11A157"/>
                </a:solidFill>
                <a:cs typeface="Arial" panose="020B0604020202020204" pitchFamily="34" charset="0"/>
              </a:rPr>
              <a:t>também</a:t>
            </a:r>
            <a:r>
              <a:rPr lang="pt-BR" sz="1900" dirty="0">
                <a:cs typeface="Arial" panose="020B0604020202020204" pitchFamily="34" charset="0"/>
              </a:rPr>
              <a:t> são incertos.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1900" dirty="0">
                <a:cs typeface="Arial" panose="020B0604020202020204" pitchFamily="34" charset="0"/>
              </a:rPr>
              <a:t>Quando </a:t>
            </a:r>
            <a:r>
              <a:rPr lang="pt-BR" sz="1900" dirty="0" smtClean="0">
                <a:cs typeface="Arial" panose="020B0604020202020204" pitchFamily="34" charset="0"/>
              </a:rPr>
              <a:t>se </a:t>
            </a:r>
            <a:r>
              <a:rPr lang="pt-BR" sz="1900" dirty="0">
                <a:cs typeface="Arial" panose="020B0604020202020204" pitchFamily="34" charset="0"/>
              </a:rPr>
              <a:t>trabalha com números muito grandes ou muito pequenos, </a:t>
            </a:r>
            <a:r>
              <a:rPr lang="pt-BR" sz="1900" dirty="0" smtClean="0">
                <a:cs typeface="Arial" panose="020B0604020202020204" pitchFamily="34" charset="0"/>
              </a:rPr>
              <a:t>algarismos </a:t>
            </a:r>
            <a:r>
              <a:rPr lang="pt-BR" sz="1900" dirty="0">
                <a:cs typeface="Arial" panose="020B0604020202020204" pitchFamily="34" charset="0"/>
              </a:rPr>
              <a:t>significativos </a:t>
            </a:r>
            <a:r>
              <a:rPr lang="pt-BR" sz="1900" dirty="0" smtClean="0">
                <a:cs typeface="Arial" panose="020B0604020202020204" pitchFamily="34" charset="0"/>
              </a:rPr>
              <a:t>são mais facilmente mostrados </a:t>
            </a:r>
            <a:r>
              <a:rPr lang="pt-BR" sz="1900" dirty="0">
                <a:cs typeface="Arial" panose="020B0604020202020204" pitchFamily="34" charset="0"/>
              </a:rPr>
              <a:t>usando notação científica.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7433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Estimativas e ordens </a:t>
            </a:r>
            <a:endParaRPr lang="pt-BR" sz="2800" b="1" dirty="0" smtClean="0">
              <a:solidFill>
                <a:srgbClr val="197B52"/>
              </a:solidFill>
              <a:latin typeface="Trebuchet MS" panose="020B0603020202020204" pitchFamily="34" charset="0"/>
            </a:endParaRPr>
          </a:p>
          <a:p>
            <a:r>
              <a:rPr lang="pt-BR" sz="2800" b="1" dirty="0" smtClean="0">
                <a:solidFill>
                  <a:srgbClr val="197B52"/>
                </a:solidFill>
                <a:latin typeface="Trebuchet MS" panose="020B0603020202020204" pitchFamily="34" charset="0"/>
              </a:rPr>
              <a:t>de </a:t>
            </a:r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grandeza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Enfatizamos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importância</a:t>
            </a:r>
            <a:r>
              <a:rPr lang="pt-BR" sz="2000" dirty="0">
                <a:cs typeface="Arial" panose="020B0604020202020204" pitchFamily="34" charset="0"/>
              </a:rPr>
              <a:t> de se conhecer a exatidão de números que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representam grandezas físicas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Porém</a:t>
            </a:r>
            <a:r>
              <a:rPr lang="pt-BR" sz="2000" dirty="0">
                <a:cs typeface="Arial" panose="020B0604020202020204" pitchFamily="34" charset="0"/>
              </a:rPr>
              <a:t>, mesmo 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estimativa</a:t>
            </a:r>
            <a:r>
              <a:rPr lang="pt-BR" sz="2000" dirty="0">
                <a:cs typeface="Arial" panose="020B0604020202020204" pitchFamily="34" charset="0"/>
              </a:rPr>
              <a:t> mais grosseira de uma grandeza geralmente nos fornece uma informação útil.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Às </a:t>
            </a:r>
            <a:r>
              <a:rPr lang="pt-BR" sz="2000" dirty="0">
                <a:cs typeface="Arial" panose="020B0604020202020204" pitchFamily="34" charset="0"/>
              </a:rPr>
              <a:t>vezes, sabemos como calcular certa grandeza, mas precisamos fazer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hipóteses</a:t>
            </a:r>
            <a:r>
              <a:rPr lang="pt-BR" sz="2000" dirty="0">
                <a:cs typeface="Arial" panose="020B0604020202020204" pitchFamily="34" charset="0"/>
              </a:rPr>
              <a:t> sobre os dados necessários para os cálculos.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Ou </a:t>
            </a:r>
            <a:r>
              <a:rPr lang="pt-BR" sz="2000" dirty="0">
                <a:cs typeface="Arial" panose="020B0604020202020204" pitchFamily="34" charset="0"/>
              </a:rPr>
              <a:t>os cálculos exatos podem ser tão complicados que fazemos algumas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aproximações</a:t>
            </a:r>
            <a:r>
              <a:rPr lang="pt-BR" sz="2000" dirty="0">
                <a:cs typeface="Arial" panose="020B0604020202020204" pitchFamily="34" charset="0"/>
              </a:rPr>
              <a:t> grosseiras.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1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141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e soma vetorial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Quando uma grandeza física é descrita por um único número, ela é denominada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grandeza escalar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Diferentemente</a:t>
            </a:r>
            <a:r>
              <a:rPr lang="pt-BR" sz="2000" dirty="0">
                <a:cs typeface="Arial" panose="020B0604020202020204" pitchFamily="34" charset="0"/>
              </a:rPr>
              <a:t>,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grandeza vetorial</a:t>
            </a:r>
            <a:r>
              <a:rPr lang="pt-BR" sz="2000" dirty="0">
                <a:cs typeface="Arial" panose="020B0604020202020204" pitchFamily="34" charset="0"/>
              </a:rPr>
              <a:t> é descrita por um módulo que indica a “quantidade” ou o “tamanho” do vetor, juntamente com uma direção e um sentido no espaço.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Os </a:t>
            </a:r>
            <a:r>
              <a:rPr lang="pt-BR" sz="2000" dirty="0">
                <a:cs typeface="Arial" panose="020B0604020202020204" pitchFamily="34" charset="0"/>
              </a:rPr>
              <a:t>cálculos envolvendo uma grandeza escalar são feitos pelas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operações aritméticas normais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Veja </a:t>
            </a:r>
            <a:r>
              <a:rPr lang="pt-BR" sz="2000" dirty="0">
                <a:cs typeface="Arial" panose="020B0604020202020204" pitchFamily="34" charset="0"/>
              </a:rPr>
              <a:t>na figura a seguir três modos de somar dois </a:t>
            </a:r>
            <a:r>
              <a:rPr lang="pt-BR" sz="2000" dirty="0" smtClean="0">
                <a:cs typeface="Arial" panose="020B0604020202020204" pitchFamily="34" charset="0"/>
              </a:rPr>
              <a:t>vetores: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3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141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e soma vetorial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90" y="1930957"/>
            <a:ext cx="3412254" cy="2905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88" y="1916832"/>
            <a:ext cx="3678836" cy="2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360" y="4437112"/>
            <a:ext cx="3661064" cy="204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12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Componentes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não</a:t>
            </a:r>
            <a:r>
              <a:rPr lang="pt-BR" sz="2000" dirty="0">
                <a:cs typeface="Arial" panose="020B0604020202020204" pitchFamily="34" charset="0"/>
              </a:rPr>
              <a:t> são vetores</a:t>
            </a:r>
            <a:r>
              <a:rPr lang="pt-BR" sz="2000" dirty="0" smtClean="0">
                <a:cs typeface="Arial" panose="020B0604020202020204" pitchFamily="34" charset="0"/>
              </a:rPr>
              <a:t>.</a:t>
            </a:r>
            <a:endParaRPr lang="pt-BR" sz="2000" dirty="0">
              <a:cs typeface="Arial" panose="020B0604020202020204" pitchFamily="34" charset="0"/>
            </a:endParaRP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Os </a:t>
            </a:r>
            <a:r>
              <a:rPr lang="pt-BR" sz="2000" dirty="0" smtClean="0">
                <a:cs typeface="Arial" panose="020B0604020202020204" pitchFamily="34" charset="0"/>
              </a:rPr>
              <a:t>componentes </a:t>
            </a:r>
            <a:r>
              <a:rPr lang="pt-BR" sz="2000" i="1" dirty="0" smtClean="0">
                <a:cs typeface="Arial" panose="020B0604020202020204" pitchFamily="34" charset="0"/>
              </a:rPr>
              <a:t>A</a:t>
            </a:r>
            <a:r>
              <a:rPr lang="pt-BR" sz="2000" i="1" baseline="-25000" dirty="0" smtClean="0">
                <a:cs typeface="Arial" panose="020B0604020202020204" pitchFamily="34" charset="0"/>
              </a:rPr>
              <a:t>x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e </a:t>
            </a:r>
            <a:r>
              <a:rPr lang="pt-BR" sz="2000" i="1" dirty="0">
                <a:cs typeface="Arial" panose="020B0604020202020204" pitchFamily="34" charset="0"/>
              </a:rPr>
              <a:t>A</a:t>
            </a:r>
            <a:r>
              <a:rPr lang="pt-BR" sz="2000" i="1" baseline="-25000" dirty="0">
                <a:cs typeface="Arial" panose="020B0604020202020204" pitchFamily="34" charset="0"/>
              </a:rPr>
              <a:t>y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de um </a:t>
            </a:r>
            <a:r>
              <a:rPr lang="pt-BR" sz="2000" dirty="0" smtClean="0">
                <a:cs typeface="Arial" panose="020B0604020202020204" pitchFamily="34" charset="0"/>
              </a:rPr>
              <a:t>vetor     são </a:t>
            </a:r>
            <a:r>
              <a:rPr lang="pt-BR" sz="2000" dirty="0">
                <a:cs typeface="Arial" panose="020B0604020202020204" pitchFamily="34" charset="0"/>
              </a:rPr>
              <a:t>apenas números; eles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não</a:t>
            </a:r>
            <a:r>
              <a:rPr lang="pt-BR" sz="2000" dirty="0">
                <a:cs typeface="Arial" panose="020B0604020202020204" pitchFamily="34" charset="0"/>
              </a:rPr>
              <a:t> são vetores.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Por </a:t>
            </a:r>
            <a:r>
              <a:rPr lang="pt-BR" sz="2000" dirty="0">
                <a:cs typeface="Arial" panose="020B0604020202020204" pitchFamily="34" charset="0"/>
              </a:rPr>
              <a:t>essa razão, estamos usando tipos itálicos sem uma seta para designá-los, em vez de usar um tipo itálico negrito com uma seta sobre a letra, notação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reservada</a:t>
            </a:r>
            <a:r>
              <a:rPr lang="pt-BR" sz="2000" dirty="0">
                <a:cs typeface="Arial" panose="020B0604020202020204" pitchFamily="34" charset="0"/>
              </a:rPr>
              <a:t> para vetores.</a:t>
            </a:r>
          </a:p>
          <a:p>
            <a:pPr marL="360000" indent="-3600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Representamos </a:t>
            </a:r>
            <a:r>
              <a:rPr lang="pt-BR" sz="2000" dirty="0">
                <a:cs typeface="Arial" panose="020B0604020202020204" pitchFamily="34" charset="0"/>
              </a:rPr>
              <a:t>a seguir um vetor </a:t>
            </a:r>
            <a:r>
              <a:rPr lang="pt-BR" sz="2000" dirty="0" smtClean="0">
                <a:cs typeface="Arial" panose="020B0604020202020204" pitchFamily="34" charset="0"/>
              </a:rPr>
              <a:t>      em </a:t>
            </a:r>
            <a:r>
              <a:rPr lang="pt-BR" sz="2000" dirty="0">
                <a:cs typeface="Arial" panose="020B0604020202020204" pitchFamily="34" charset="0"/>
              </a:rPr>
              <a:t>termos de seus componentes </a:t>
            </a:r>
            <a:r>
              <a:rPr lang="pt-BR" sz="2000" i="1" dirty="0">
                <a:cs typeface="Arial" panose="020B0604020202020204" pitchFamily="34" charset="0"/>
              </a:rPr>
              <a:t>A</a:t>
            </a:r>
            <a:r>
              <a:rPr lang="pt-BR" sz="2000" i="1" baseline="-25000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 smtClean="0">
                <a:cs typeface="Arial" panose="020B0604020202020204" pitchFamily="34" charset="0"/>
              </a:rPr>
              <a:t>A</a:t>
            </a:r>
            <a:r>
              <a:rPr lang="pt-BR" sz="2000" i="1" baseline="-25000" dirty="0" smtClean="0">
                <a:cs typeface="Arial" panose="020B0604020202020204" pitchFamily="34" charset="0"/>
              </a:rPr>
              <a:t>y</a:t>
            </a:r>
            <a:r>
              <a:rPr lang="pt-BR" sz="2000" dirty="0" smtClean="0">
                <a:cs typeface="Arial" panose="020B0604020202020204" pitchFamily="34" charset="0"/>
              </a:rPr>
              <a:t>: 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AE3F1"/>
              </a:clrFrom>
              <a:clrTo>
                <a:srgbClr val="CAE3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41780"/>
            <a:ext cx="278642" cy="42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AE3F1"/>
              </a:clrFrom>
              <a:clrTo>
                <a:srgbClr val="CAE3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026" y="4437112"/>
            <a:ext cx="275958" cy="41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409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061374"/>
            <a:ext cx="4983114" cy="3815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71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Os componentes de um vetor podem ser números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positivos</a:t>
            </a:r>
            <a:r>
              <a:rPr lang="pt-BR" sz="2000" dirty="0">
                <a:cs typeface="Arial" panose="020B0604020202020204" pitchFamily="34" charset="0"/>
              </a:rPr>
              <a:t> ou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negativos</a:t>
            </a:r>
            <a:r>
              <a:rPr lang="pt-BR" sz="2000" dirty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01954"/>
            <a:ext cx="3696492" cy="2299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132" y="2502920"/>
            <a:ext cx="3412238" cy="287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5004048" y="2348880"/>
            <a:ext cx="432048" cy="456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899592" y="2852936"/>
            <a:ext cx="432048" cy="456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36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uso de componentes</a:t>
            </a:r>
            <a:r>
              <a:rPr lang="pt-BR" sz="2000" dirty="0">
                <a:cs typeface="Arial" panose="020B0604020202020204" pitchFamily="34" charset="0"/>
              </a:rPr>
              <a:t> facilita bastante a execução de vários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cálculos envolvendo vetores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Podemos </a:t>
            </a:r>
            <a:r>
              <a:rPr lang="pt-BR" sz="2000" dirty="0">
                <a:cs typeface="Arial" panose="020B0604020202020204" pitchFamily="34" charset="0"/>
              </a:rPr>
              <a:t>descrever completamente um vetor especificando seu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módulo</a:t>
            </a:r>
            <a:r>
              <a:rPr lang="pt-BR" sz="2000" dirty="0">
                <a:cs typeface="Arial" panose="020B0604020202020204" pitchFamily="34" charset="0"/>
              </a:rPr>
              <a:t>, sua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direção</a:t>
            </a:r>
            <a:r>
              <a:rPr lang="pt-BR" sz="2000" dirty="0">
                <a:cs typeface="Arial" panose="020B0604020202020204" pitchFamily="34" charset="0"/>
              </a:rPr>
              <a:t> e seu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sentido</a:t>
            </a:r>
            <a:r>
              <a:rPr lang="pt-BR" sz="2000" dirty="0">
                <a:cs typeface="Arial" panose="020B0604020202020204" pitchFamily="34" charset="0"/>
              </a:rPr>
              <a:t>, ou mediante seus componentes </a:t>
            </a:r>
            <a:r>
              <a:rPr lang="pt-BR" sz="2000" i="1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>
                <a:cs typeface="Arial" panose="020B0604020202020204" pitchFamily="34" charset="0"/>
              </a:rPr>
              <a:t>y</a:t>
            </a:r>
            <a:r>
              <a:rPr lang="pt-BR" sz="2000" dirty="0">
                <a:cs typeface="Arial" panose="020B0604020202020204" pitchFamily="34" charset="0"/>
              </a:rPr>
              <a:t>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Se </a:t>
            </a:r>
            <a:r>
              <a:rPr lang="pt-BR" sz="2000" dirty="0">
                <a:cs typeface="Arial" panose="020B0604020202020204" pitchFamily="34" charset="0"/>
              </a:rPr>
              <a:t>multiplicarmos um </a:t>
            </a:r>
            <a:r>
              <a:rPr lang="pt-BR" sz="2000" dirty="0" smtClean="0">
                <a:cs typeface="Arial" panose="020B0604020202020204" pitchFamily="34" charset="0"/>
              </a:rPr>
              <a:t>vetor     por </a:t>
            </a:r>
            <a:r>
              <a:rPr lang="pt-BR" sz="2000" dirty="0">
                <a:cs typeface="Arial" panose="020B0604020202020204" pitchFamily="34" charset="0"/>
              </a:rPr>
              <a:t>uma grandeza escalar </a:t>
            </a:r>
            <a:r>
              <a:rPr lang="pt-BR" sz="2000" i="1" dirty="0">
                <a:cs typeface="Arial" panose="020B0604020202020204" pitchFamily="34" charset="0"/>
              </a:rPr>
              <a:t>c</a:t>
            </a:r>
            <a:r>
              <a:rPr lang="pt-BR" sz="2000" dirty="0">
                <a:cs typeface="Arial" panose="020B0604020202020204" pitchFamily="34" charset="0"/>
              </a:rPr>
              <a:t>, cada componente do produto </a:t>
            </a:r>
            <a:r>
              <a:rPr lang="pt-BR" sz="2000" dirty="0" smtClean="0">
                <a:cs typeface="Arial" panose="020B0604020202020204" pitchFamily="34" charset="0"/>
              </a:rPr>
              <a:t>de      =  c     é </a:t>
            </a:r>
            <a:r>
              <a:rPr lang="pt-BR" sz="2000" dirty="0">
                <a:cs typeface="Arial" panose="020B0604020202020204" pitchFamily="34" charset="0"/>
              </a:rPr>
              <a:t>igual ao produto de </a:t>
            </a:r>
            <a:r>
              <a:rPr lang="pt-BR" sz="2000" i="1" dirty="0">
                <a:cs typeface="Arial" panose="020B0604020202020204" pitchFamily="34" charset="0"/>
              </a:rPr>
              <a:t>c</a:t>
            </a:r>
            <a:r>
              <a:rPr lang="pt-BR" sz="2000" dirty="0">
                <a:cs typeface="Arial" panose="020B0604020202020204" pitchFamily="34" charset="0"/>
              </a:rPr>
              <a:t> e o componente correspondente </a:t>
            </a:r>
            <a:r>
              <a:rPr lang="pt-BR" sz="2000" dirty="0" smtClean="0">
                <a:cs typeface="Arial" panose="020B0604020202020204" pitchFamily="34" charset="0"/>
              </a:rPr>
              <a:t>de    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50" y="3573016"/>
            <a:ext cx="244154" cy="31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330" y="4014193"/>
            <a:ext cx="270398" cy="3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654" y="4048608"/>
            <a:ext cx="244154" cy="31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62" y="4509120"/>
            <a:ext cx="244154" cy="31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99" y="5157192"/>
            <a:ext cx="69818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056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A figura a seguir mostra dois </a:t>
            </a:r>
            <a:r>
              <a:rPr lang="pt-BR" sz="2000" dirty="0" smtClean="0">
                <a:cs typeface="Arial" panose="020B0604020202020204" pitchFamily="34" charset="0"/>
              </a:rPr>
              <a:t>vetores      e       resultante      </a:t>
            </a:r>
            <a:r>
              <a:rPr lang="pt-BR" sz="2000" dirty="0">
                <a:cs typeface="Arial" panose="020B0604020202020204" pitchFamily="34" charset="0"/>
              </a:rPr>
              <a:t>com os componentes </a:t>
            </a:r>
            <a:r>
              <a:rPr lang="pt-BR" sz="2000" i="1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 e </a:t>
            </a:r>
            <a:r>
              <a:rPr lang="pt-BR" sz="2000" i="1" dirty="0">
                <a:cs typeface="Arial" panose="020B0604020202020204" pitchFamily="34" charset="0"/>
              </a:rPr>
              <a:t>y</a:t>
            </a:r>
            <a:r>
              <a:rPr lang="pt-BR" sz="2000" dirty="0">
                <a:cs typeface="Arial" panose="020B0604020202020204" pitchFamily="34" charset="0"/>
              </a:rPr>
              <a:t> desses três vetores.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Podemos </a:t>
            </a:r>
            <a:r>
              <a:rPr lang="pt-BR" sz="2000" dirty="0">
                <a:cs typeface="Arial" panose="020B0604020202020204" pitchFamily="34" charset="0"/>
              </a:rPr>
              <a:t>ver do diagrama que o componente </a:t>
            </a:r>
            <a:r>
              <a:rPr lang="pt-BR" sz="2000" i="1" dirty="0">
                <a:cs typeface="Arial" panose="020B0604020202020204" pitchFamily="34" charset="0"/>
              </a:rPr>
              <a:t>R</a:t>
            </a:r>
            <a:r>
              <a:rPr lang="pt-BR" sz="2000" i="1" baseline="-25000" dirty="0">
                <a:cs typeface="Arial" panose="020B0604020202020204" pitchFamily="34" charset="0"/>
              </a:rPr>
              <a:t>x</a:t>
            </a:r>
            <a:r>
              <a:rPr lang="pt-BR" sz="2000" dirty="0" smtClean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</a:rPr>
              <a:t>da resultante é simplesmente a soma (</a:t>
            </a:r>
            <a:r>
              <a:rPr lang="pt-BR" sz="2000" i="1" dirty="0">
                <a:cs typeface="Arial" panose="020B0604020202020204" pitchFamily="34" charset="0"/>
              </a:rPr>
              <a:t>A</a:t>
            </a:r>
            <a:r>
              <a:rPr lang="pt-BR" sz="2000" i="1" baseline="-25000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 + </a:t>
            </a:r>
            <a:r>
              <a:rPr lang="pt-BR" sz="2000" i="1" dirty="0">
                <a:cs typeface="Arial" panose="020B0604020202020204" pitchFamily="34" charset="0"/>
              </a:rPr>
              <a:t>B</a:t>
            </a:r>
            <a:r>
              <a:rPr lang="pt-BR" sz="2000" i="1" baseline="-25000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) </a:t>
            </a:r>
            <a:r>
              <a:rPr lang="pt-BR" sz="2000" dirty="0" smtClean="0">
                <a:cs typeface="Arial" panose="020B0604020202020204" pitchFamily="34" charset="0"/>
              </a:rPr>
              <a:t>dos </a:t>
            </a:r>
            <a:r>
              <a:rPr lang="pt-BR" sz="2000" dirty="0">
                <a:cs typeface="Arial" panose="020B0604020202020204" pitchFamily="34" charset="0"/>
              </a:rPr>
              <a:t>componentes </a:t>
            </a:r>
            <a:r>
              <a:rPr lang="pt-BR" sz="2000" i="1" dirty="0">
                <a:cs typeface="Arial" panose="020B0604020202020204" pitchFamily="34" charset="0"/>
              </a:rPr>
              <a:t>x</a:t>
            </a:r>
            <a:r>
              <a:rPr lang="pt-BR" sz="2000" dirty="0">
                <a:cs typeface="Arial" panose="020B0604020202020204" pitchFamily="34" charset="0"/>
              </a:rPr>
              <a:t> dos vetores que estão sendo somados.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O </a:t>
            </a:r>
            <a:r>
              <a:rPr lang="pt-BR" sz="2000" dirty="0">
                <a:cs typeface="Arial" panose="020B0604020202020204" pitchFamily="34" charset="0"/>
              </a:rPr>
              <a:t>mesmo resultado é válido para os componentes </a:t>
            </a:r>
            <a:r>
              <a:rPr lang="pt-BR" sz="2000" i="1" dirty="0">
                <a:cs typeface="Arial" panose="020B0604020202020204" pitchFamily="34" charset="0"/>
              </a:rPr>
              <a:t>y</a:t>
            </a:r>
            <a:r>
              <a:rPr lang="pt-BR" sz="2000" dirty="0">
                <a:cs typeface="Arial" panose="020B0604020202020204" pitchFamily="34" charset="0"/>
              </a:rPr>
              <a:t>. Em </a:t>
            </a:r>
            <a:r>
              <a:rPr lang="pt-BR" sz="2000" dirty="0" smtClean="0">
                <a:cs typeface="Arial" panose="020B0604020202020204" pitchFamily="34" charset="0"/>
              </a:rPr>
              <a:t>símbolos: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D9E7DE"/>
              </a:clrFrom>
              <a:clrTo>
                <a:srgbClr val="D9E7D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164682"/>
            <a:ext cx="53530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672396"/>
            <a:ext cx="294596" cy="44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829" y="1700808"/>
            <a:ext cx="282016" cy="3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700808"/>
            <a:ext cx="275034" cy="41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485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695803"/>
            <a:ext cx="3673632" cy="459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699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4349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Componentes de vetores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Um vetor em três dimensões</a:t>
            </a:r>
            <a:r>
              <a:rPr lang="pt-BR" sz="2000" dirty="0" smtClean="0">
                <a:cs typeface="Arial" panose="020B0604020202020204" pitchFamily="34" charset="0"/>
              </a:rPr>
              <a:t>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120900"/>
            <a:ext cx="3096490" cy="4332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47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45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unitários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vetor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unitário</a:t>
            </a:r>
            <a:r>
              <a:rPr lang="pt-BR" sz="2000" dirty="0">
                <a:cs typeface="Arial" panose="020B0604020202020204" pitchFamily="34" charset="0"/>
              </a:rPr>
              <a:t> é aquele que possui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módulo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igual a 1</a:t>
            </a:r>
            <a:r>
              <a:rPr lang="pt-BR" sz="2000" dirty="0">
                <a:cs typeface="Arial" panose="020B0604020202020204" pitchFamily="34" charset="0"/>
              </a:rPr>
              <a:t>, não possuindo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nenhuma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unidade</a:t>
            </a:r>
            <a:r>
              <a:rPr lang="pt-BR" sz="2000" dirty="0">
                <a:cs typeface="Arial" panose="020B0604020202020204" pitchFamily="34" charset="0"/>
              </a:rPr>
              <a:t>. 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Seu único objetivo é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apontar</a:t>
            </a:r>
            <a:r>
              <a:rPr lang="pt-BR" sz="2000" dirty="0">
                <a:cs typeface="Arial" panose="020B0604020202020204" pitchFamily="34" charset="0"/>
              </a:rPr>
              <a:t>, ou seja, descrever uma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direção</a:t>
            </a:r>
            <a:r>
              <a:rPr lang="pt-BR" sz="2000" dirty="0">
                <a:cs typeface="Arial" panose="020B0604020202020204" pitchFamily="34" charset="0"/>
              </a:rPr>
              <a:t> e um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sentido</a:t>
            </a:r>
            <a:r>
              <a:rPr lang="pt-BR" sz="2000" dirty="0">
                <a:cs typeface="Arial" panose="020B0604020202020204" pitchFamily="34" charset="0"/>
              </a:rPr>
              <a:t> no espaço.</a:t>
            </a:r>
          </a:p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 smtClean="0">
                <a:cs typeface="Arial" panose="020B0604020202020204" pitchFamily="34" charset="0"/>
              </a:rPr>
              <a:t>Sempre </a:t>
            </a:r>
            <a:r>
              <a:rPr lang="pt-BR" sz="2000" dirty="0">
                <a:cs typeface="Arial" panose="020B0604020202020204" pitchFamily="34" charset="0"/>
              </a:rPr>
              <a:t>usaremos acento circunflexo ou “chapéu” (^) para simbolizar um vetor unitário e distingui-lo de um vetor comum cujo módulo pode ou não ser igual a 1.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797152"/>
            <a:ext cx="4095750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2699792" y="4725144"/>
            <a:ext cx="391691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296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45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unitários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3235107"/>
            <a:ext cx="8784976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Usando vetores unitários, podemos escrever a soma vetorial     de dois vetores     e     </a:t>
            </a:r>
            <a:r>
              <a:rPr lang="pt-BR" sz="2000" dirty="0" smtClean="0">
                <a:cs typeface="Arial" panose="020B0604020202020204" pitchFamily="34" charset="0"/>
              </a:rPr>
              <a:t> do </a:t>
            </a:r>
            <a:r>
              <a:rPr lang="pt-BR" sz="2000" dirty="0">
                <a:cs typeface="Arial" panose="020B0604020202020204" pitchFamily="34" charset="0"/>
              </a:rPr>
              <a:t>seguinte modo: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71" y="3319035"/>
            <a:ext cx="27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71" y="3812539"/>
            <a:ext cx="2762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83" y="3811171"/>
            <a:ext cx="2381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323126"/>
            <a:ext cx="3368402" cy="200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1995686" y="1268760"/>
            <a:ext cx="416074" cy="216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931" y="4419088"/>
            <a:ext cx="2994187" cy="210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38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45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unitários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 algn="just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Cálculo do produto escalar de dois </a:t>
            </a:r>
            <a:r>
              <a:rPr lang="pt-BR" sz="2000" dirty="0" smtClean="0">
                <a:cs typeface="Arial" panose="020B0604020202020204" pitchFamily="34" charset="0"/>
              </a:rPr>
              <a:t>vetores: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72816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782341"/>
            <a:ext cx="11525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96" y="2201994"/>
            <a:ext cx="3295872" cy="151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80" y="3767664"/>
            <a:ext cx="3411052" cy="2613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21186"/>
            <a:ext cx="3818606" cy="2719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4788024" y="2204864"/>
            <a:ext cx="504056" cy="432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88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23528" y="476672"/>
            <a:ext cx="3045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197B52"/>
                </a:solidFill>
                <a:latin typeface="Trebuchet MS" panose="020B0603020202020204" pitchFamily="34" charset="0"/>
              </a:rPr>
              <a:t>Vetores unitários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9512" y="1628800"/>
            <a:ext cx="8784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cs typeface="Arial" panose="020B0604020202020204" pitchFamily="34" charset="0"/>
              </a:rPr>
              <a:t>O produto escalar                     </a:t>
            </a:r>
            <a:r>
              <a:rPr lang="pt-BR" sz="2000" dirty="0" smtClean="0">
                <a:cs typeface="Arial" panose="020B0604020202020204" pitchFamily="34" charset="0"/>
              </a:rPr>
              <a:t>         pode </a:t>
            </a:r>
            <a:r>
              <a:rPr lang="pt-BR" sz="2000" dirty="0">
                <a:cs typeface="Arial" panose="020B0604020202020204" pitchFamily="34" charset="0"/>
              </a:rPr>
              <a:t>ser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positivo</a:t>
            </a:r>
            <a:r>
              <a:rPr lang="pt-BR" sz="2000" dirty="0">
                <a:cs typeface="Arial" panose="020B0604020202020204" pitchFamily="34" charset="0"/>
              </a:rPr>
              <a:t>,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negativo</a:t>
            </a:r>
            <a:r>
              <a:rPr lang="pt-BR" sz="2000" dirty="0">
                <a:cs typeface="Arial" panose="020B0604020202020204" pitchFamily="34" charset="0"/>
              </a:rPr>
              <a:t> ou </a:t>
            </a:r>
            <a:r>
              <a:rPr lang="pt-BR" sz="2000" dirty="0">
                <a:solidFill>
                  <a:srgbClr val="11A157"/>
                </a:solidFill>
                <a:cs typeface="Arial" panose="020B0604020202020204" pitchFamily="34" charset="0"/>
              </a:rPr>
              <a:t>zero</a:t>
            </a:r>
            <a:r>
              <a:rPr lang="pt-BR" sz="2000" dirty="0">
                <a:cs typeface="Arial" panose="020B0604020202020204" pitchFamily="34" charset="0"/>
              </a:rPr>
              <a:t>, dependendo do ângulo entre   </a:t>
            </a:r>
            <a:r>
              <a:rPr lang="pt-BR" sz="2000" dirty="0" smtClean="0">
                <a:cs typeface="Arial" panose="020B0604020202020204" pitchFamily="34" charset="0"/>
              </a:rPr>
              <a:t>  e    .</a:t>
            </a:r>
            <a:endParaRPr lang="pt-BR" sz="2000" dirty="0">
              <a:cs typeface="Arial" panose="020B060402020202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904" y="1806304"/>
            <a:ext cx="684344" cy="248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976" y="1819772"/>
            <a:ext cx="940976" cy="241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134" y="2204864"/>
            <a:ext cx="215786" cy="30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946" y="2204864"/>
            <a:ext cx="186022" cy="29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716" y="4869160"/>
            <a:ext cx="3154460" cy="167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668" y="2671280"/>
            <a:ext cx="3605096" cy="205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18" y="2680574"/>
            <a:ext cx="3561766" cy="182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tângulo 20"/>
          <p:cNvSpPr/>
          <p:nvPr/>
        </p:nvSpPr>
        <p:spPr>
          <a:xfrm>
            <a:off x="4859834" y="2539727"/>
            <a:ext cx="432246" cy="313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801241" y="2683743"/>
            <a:ext cx="386383" cy="313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79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1058</Words>
  <Application>Microsoft Office PowerPoint</Application>
  <PresentationFormat>Apresentação na tela (4:3)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Guimaraes, Marcos</dc:creator>
  <cp:lastModifiedBy>de Araujo Rodrigues, Mariana</cp:lastModifiedBy>
  <cp:revision>43</cp:revision>
  <dcterms:created xsi:type="dcterms:W3CDTF">2014-10-30T14:07:03Z</dcterms:created>
  <dcterms:modified xsi:type="dcterms:W3CDTF">2016-05-25T12:34:34Z</dcterms:modified>
</cp:coreProperties>
</file>