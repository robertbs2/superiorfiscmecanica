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6.png" ContentType="image/png"/>
  <Override PartName="/ppt/media/image10.png" ContentType="image/png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DA9722-3E48-4F44-9708-344C5C3479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0BB3EE-5E44-40B2-A100-3B831D1239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ACF470DA-086B-49EF-B559-6E14474BCF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5FCFA38-3BDC-488B-989A-06E65D49CD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021EBB8-4320-40B1-A11D-8844D04664F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9F33C5D-C89C-4B0A-A10A-2F53BE1D750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5CB806C-2F2E-4F31-9F54-959A142E49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96046F15-CCA5-4F0B-9570-E62357C562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F526FCA-327A-4137-9F7A-5CC577C047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9035915-5191-42CF-9A3C-68324BB05E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</a:t>
            </a: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F60DBE-2D4F-495F-A789-3FAE59019EC6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3103FD-4B2D-4A1B-823C-55796014DB31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25E08B-4227-4398-A48B-D1220154CC8A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 descr="Z:\ARTE\______UNIVERSITARIOS\Templates\SEARS_I\SEARS_template.jpg"/>
          <p:cNvPicPr/>
          <p:nvPr/>
        </p:nvPicPr>
        <p:blipFill>
          <a:blip r:embed="rId2"/>
          <a:stretch/>
        </p:blipFill>
        <p:spPr>
          <a:xfrm>
            <a:off x="-8640" y="0"/>
            <a:ext cx="9160560" cy="685764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8"/>
          <p:cNvSpPr/>
          <p:nvPr/>
        </p:nvSpPr>
        <p:spPr>
          <a:xfrm>
            <a:off x="4927680" y="6597360"/>
            <a:ext cx="3964320" cy="213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1200" spc="-1" strike="noStrike">
                <a:solidFill>
                  <a:schemeClr val="dk1"/>
                </a:solidFill>
                <a:latin typeface="Calibri"/>
              </a:rPr>
              <a:t>© 2016 Pearson. Todos os direitos reservados.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Rectangle 8"/>
          <p:cNvSpPr/>
          <p:nvPr/>
        </p:nvSpPr>
        <p:spPr>
          <a:xfrm>
            <a:off x="249480" y="6597360"/>
            <a:ext cx="3214440" cy="213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chemeClr val="dk1"/>
                </a:solidFill>
                <a:latin typeface="Calibri"/>
              </a:rPr>
              <a:t>slide </a:t>
            </a:r>
            <a:fld id="{EE2F867B-3C0E-44F4-97E8-85DC2624F1D4}" type="slidenum">
              <a:rPr b="0" lang="pt-BR" sz="1200" spc="-1" strike="noStrike">
                <a:solidFill>
                  <a:schemeClr val="dk1"/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4000" spc="-1" strike="noStrike" cap="all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pt-BR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Clique para editar os estilos do texto mestre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CD6EC4-39EA-4BDC-AE10-23E3C148527E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77E2B1-58FA-4CA0-A637-E6BEA9BA674D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pt-BR" sz="2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18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16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5AB82-F437-4685-ACE3-F456A748DA6F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pt-BR" sz="44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EDC682-598E-43C5-BA8A-4A002F1E21BE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07B585-0779-4082-8D07-6ADC93985BC2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20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800" spc="-1" strike="noStrike">
                <a:solidFill>
                  <a:schemeClr val="dk1"/>
                </a:solidFill>
                <a:latin typeface="Calibri"/>
              </a:rPr>
              <a:t>Segundo nível</a:t>
            </a:r>
            <a:endParaRPr b="0" lang="pt-BR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400" spc="-1" strike="noStrike">
                <a:solidFill>
                  <a:schemeClr val="dk1"/>
                </a:solidFill>
                <a:latin typeface="Calibri"/>
              </a:rPr>
              <a:t>Terceiro nível</a:t>
            </a:r>
            <a:endParaRPr b="0" lang="pt-BR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Quarto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Quinto nível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3D737F-C91E-459D-B7D8-C792C1284DF3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pt-BR" sz="2000" spc="-1" strike="noStrike">
                <a:solidFill>
                  <a:schemeClr val="dk1"/>
                </a:solidFill>
                <a:latin typeface="Calibri"/>
              </a:rPr>
              <a:t>Clique para editar o estilo do título mestre</a:t>
            </a:r>
            <a:endParaRPr b="0" lang="pt-BR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pt-BR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chemeClr val="dk1"/>
                </a:solidFill>
                <a:latin typeface="Calibri"/>
              </a:rPr>
              <a:t>Clique para editar os estilos do texto mestre</a:t>
            </a:r>
            <a:endParaRPr b="0" lang="pt-BR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FBAEF3-FEF0-4BD9-AA00-5E0285B7892B}" type="slidenum">
              <a:rPr b="0" lang="pt-BR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2" descr="Z:\ARTE\______UNIVERSITARIOS\Templates\SEARS_I\SEARS_template2.jpg"/>
          <p:cNvPicPr/>
          <p:nvPr/>
        </p:nvPicPr>
        <p:blipFill>
          <a:blip r:embed="rId1"/>
          <a:stretch/>
        </p:blipFill>
        <p:spPr>
          <a:xfrm>
            <a:off x="0" y="6480"/>
            <a:ext cx="9143640" cy="6845040"/>
          </a:xfrm>
          <a:prstGeom prst="rect">
            <a:avLst/>
          </a:prstGeom>
          <a:ln w="0">
            <a:noFill/>
          </a:ln>
        </p:spPr>
      </p:pic>
      <p:sp>
        <p:nvSpPr>
          <p:cNvPr id="65" name="CaixaDeTexto 9"/>
          <p:cNvSpPr/>
          <p:nvPr/>
        </p:nvSpPr>
        <p:spPr>
          <a:xfrm>
            <a:off x="395640" y="2709000"/>
            <a:ext cx="547236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4000" spc="-1" strike="noStrike">
                <a:solidFill>
                  <a:schemeClr val="dk1"/>
                </a:solidFill>
                <a:latin typeface="Trebuchet MS"/>
              </a:rPr>
              <a:t>Capítulo 2: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4000" spc="-1" strike="noStrike">
                <a:solidFill>
                  <a:srgbClr val="197b52"/>
                </a:solidFill>
                <a:latin typeface="Trebuchet MS"/>
              </a:rPr>
              <a:t>Movimento Retilíneo</a:t>
            </a:r>
            <a:endParaRPr b="0" lang="pt-BR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ectangle 8"/>
          <p:cNvSpPr/>
          <p:nvPr/>
        </p:nvSpPr>
        <p:spPr>
          <a:xfrm>
            <a:off x="4927680" y="6597360"/>
            <a:ext cx="3964320" cy="213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1200" spc="-1" strike="noStrike">
                <a:solidFill>
                  <a:schemeClr val="dk1"/>
                </a:solidFill>
                <a:latin typeface="Calibri"/>
              </a:rPr>
              <a:t>© 2016 Pearson. Todos os direitos reservados.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8"/>
          <p:cNvSpPr/>
          <p:nvPr/>
        </p:nvSpPr>
        <p:spPr>
          <a:xfrm>
            <a:off x="35640" y="6527160"/>
            <a:ext cx="3214440" cy="21384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>
            <a:noAutofit/>
          </a:bodyPr>
          <a:p>
            <a:pPr defTabSz="914400">
              <a:lnSpc>
                <a:spcPct val="100000"/>
              </a:lnSpc>
            </a:pPr>
            <a:endParaRPr b="0" lang="pt-BR" sz="12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CaixaDeTexto 2"/>
          <p:cNvSpPr/>
          <p:nvPr/>
        </p:nvSpPr>
        <p:spPr>
          <a:xfrm>
            <a:off x="198360" y="476640"/>
            <a:ext cx="5024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Objetivos de aprendizagem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CaixaDeTexto 3"/>
          <p:cNvSpPr/>
          <p:nvPr/>
        </p:nvSpPr>
        <p:spPr>
          <a:xfrm>
            <a:off x="179640" y="1628640"/>
            <a:ext cx="878472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Como as ideias de deslocamento e velocidade média nos ajudam a descrever o movimento retilíneo.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O significado de velocidade instantânea; a diferença entre vetor velocidade e velocidade escalar.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Como usar a aceleração média e a aceleração instantânea para descrever as mudanças no vetor velocidade.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aixaDeTexto 2"/>
          <p:cNvSpPr/>
          <p:nvPr/>
        </p:nvSpPr>
        <p:spPr>
          <a:xfrm>
            <a:off x="198360" y="476640"/>
            <a:ext cx="5024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Objetivos de aprendizagem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CaixaDeTexto 3"/>
          <p:cNvSpPr/>
          <p:nvPr/>
        </p:nvSpPr>
        <p:spPr>
          <a:xfrm>
            <a:off x="179640" y="1628640"/>
            <a:ext cx="878472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Como usar equações e gráficos para resolver problemas que envolvem movimento retilíneo com aceleração constante.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Como resolver problemas nos quais um objeto está caindo livremente apenas sob a influência da gravidade.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Como analisar o movimento retilíneo quando a aceleração não é constante.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aixaDeTexto 2"/>
          <p:cNvSpPr/>
          <p:nvPr/>
        </p:nvSpPr>
        <p:spPr>
          <a:xfrm>
            <a:off x="224640" y="476640"/>
            <a:ext cx="4463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Deslocamento, tempo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CaixaDeTexto 3"/>
          <p:cNvSpPr/>
          <p:nvPr/>
        </p:nvSpPr>
        <p:spPr>
          <a:xfrm>
            <a:off x="179640" y="1628640"/>
            <a:ext cx="8784720" cy="42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Definimos 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velocidade média 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de um carro num intervalo de tempo como um vetor cujo componente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é a variação de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dividida por esse intervalo: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  <a:spcBef>
                <a:spcPts val="201"/>
              </a:spcBef>
              <a:spcAft>
                <a:spcPts val="201"/>
              </a:spcAft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(258 m)/(3,0 s) = 86 m/s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Em geral, a velocidade média depende do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intervalo específico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de tempo escolhido.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Para um intervalo de 3,0s </a:t>
            </a:r>
            <a:r>
              <a:rPr b="0" i="1" lang="pt-BR" sz="2000" spc="-1" strike="noStrike">
                <a:solidFill>
                  <a:srgbClr val="11a157"/>
                </a:solidFill>
                <a:latin typeface="Calibri"/>
              </a:rPr>
              <a:t>antes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do início da corrida, a velocidade média seria zero, porque o carro estaria em repouso na linha de partida e seu deslocamento seria nulo.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aixaDeTexto 2"/>
          <p:cNvSpPr/>
          <p:nvPr/>
        </p:nvSpPr>
        <p:spPr>
          <a:xfrm>
            <a:off x="224640" y="476640"/>
            <a:ext cx="4463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Deslocamento, tempo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CaixaDeTexto 3"/>
          <p:cNvSpPr/>
          <p:nvPr/>
        </p:nvSpPr>
        <p:spPr>
          <a:xfrm>
            <a:off x="179640" y="1628640"/>
            <a:ext cx="8784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Posição de um carro de corrida em dois instantes de sua trajetória: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Picture 2" descr=""/>
          <p:cNvPicPr/>
          <p:nvPr/>
        </p:nvPicPr>
        <p:blipFill>
          <a:blip r:embed="rId1"/>
          <a:stretch/>
        </p:blipFill>
        <p:spPr>
          <a:xfrm>
            <a:off x="499680" y="2205000"/>
            <a:ext cx="8104320" cy="3354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CaixaDeTexto 2"/>
          <p:cNvSpPr/>
          <p:nvPr/>
        </p:nvSpPr>
        <p:spPr>
          <a:xfrm>
            <a:off x="224640" y="476640"/>
            <a:ext cx="4463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Deslocamento, tempo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CaixaDeTexto 3"/>
          <p:cNvSpPr/>
          <p:nvPr/>
        </p:nvSpPr>
        <p:spPr>
          <a:xfrm>
            <a:off x="180000" y="1800000"/>
            <a:ext cx="8784720" cy="7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Posições de uma caminhonete em dois instantes durante seu movimento: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2" descr=""/>
          <p:cNvPicPr/>
          <p:nvPr/>
        </p:nvPicPr>
        <p:blipFill>
          <a:blip r:embed="rId1"/>
          <a:stretch/>
        </p:blipFill>
        <p:spPr>
          <a:xfrm>
            <a:off x="251640" y="2520000"/>
            <a:ext cx="8604000" cy="333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aixaDeTexto 2"/>
          <p:cNvSpPr/>
          <p:nvPr/>
        </p:nvSpPr>
        <p:spPr>
          <a:xfrm>
            <a:off x="224640" y="476640"/>
            <a:ext cx="44636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Deslocamento, tempo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aixaDeTexto 3"/>
          <p:cNvSpPr/>
          <p:nvPr/>
        </p:nvSpPr>
        <p:spPr>
          <a:xfrm>
            <a:off x="179640" y="1628640"/>
            <a:ext cx="87847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Gráfico da posição de um carro de corrida em função do tempo: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2" name="Picture 2" descr=""/>
          <p:cNvPicPr/>
          <p:nvPr/>
        </p:nvPicPr>
        <p:blipFill>
          <a:blip r:embed="rId1"/>
          <a:stretch/>
        </p:blipFill>
        <p:spPr>
          <a:xfrm>
            <a:off x="611640" y="2314440"/>
            <a:ext cx="7344360" cy="3922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aixaDeTexto 2"/>
          <p:cNvSpPr/>
          <p:nvPr/>
        </p:nvSpPr>
        <p:spPr>
          <a:xfrm>
            <a:off x="190800" y="476640"/>
            <a:ext cx="4343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instantânea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aixaDeTexto 3"/>
          <p:cNvSpPr/>
          <p:nvPr/>
        </p:nvSpPr>
        <p:spPr>
          <a:xfrm>
            <a:off x="179640" y="1628640"/>
            <a:ext cx="8784720" cy="329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Velocidade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instantânea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– a velocidade em um instante ou em um ponto específico ao longo da trajetória.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Qual é a duração de um instante?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No cotidiano, você pode usar a frase “só um instante” para indicar que um fato ocorrerá em um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curto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intervalo de tempo.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Contudo, em física, um instante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não possui nenhuma duração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; ele se refere a um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único valor definido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para o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tempo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aixaDeTexto 2"/>
          <p:cNvSpPr/>
          <p:nvPr/>
        </p:nvSpPr>
        <p:spPr>
          <a:xfrm>
            <a:off x="190800" y="476640"/>
            <a:ext cx="4343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instantânea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CaixaDeTexto 3"/>
          <p:cNvSpPr/>
          <p:nvPr/>
        </p:nvSpPr>
        <p:spPr>
          <a:xfrm>
            <a:off x="179640" y="1628640"/>
            <a:ext cx="8784720" cy="10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Usamos um gráfico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 xt 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para ir de (a) e (b), velocidade média, para (c), velocidade instantânea </a:t>
            </a:r>
            <a:r>
              <a:rPr b="0" i="1" lang="pt-BR" sz="2000" spc="-1" strike="noStrike">
                <a:solidFill>
                  <a:schemeClr val="dk1"/>
                </a:solidFill>
                <a:latin typeface="Symbol"/>
              </a:rPr>
              <a:t>u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Picture 2" descr=""/>
          <p:cNvPicPr/>
          <p:nvPr/>
        </p:nvPicPr>
        <p:blipFill>
          <a:blip r:embed="rId1"/>
          <a:stretch/>
        </p:blipFill>
        <p:spPr>
          <a:xfrm>
            <a:off x="534240" y="2637000"/>
            <a:ext cx="8573760" cy="286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aixaDeTexto 2"/>
          <p:cNvSpPr/>
          <p:nvPr/>
        </p:nvSpPr>
        <p:spPr>
          <a:xfrm>
            <a:off x="190800" y="476640"/>
            <a:ext cx="4343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instantânea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CaixaDeTexto 3"/>
          <p:cNvSpPr/>
          <p:nvPr/>
        </p:nvSpPr>
        <p:spPr>
          <a:xfrm>
            <a:off x="179640" y="1628640"/>
            <a:ext cx="878472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(a) Gráfico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xt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do movimento de uma certa partícula.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(b) Diagrama do movimento mostrando a posição e a velocidade da partícula em cada um dos cinco instantes indicados no gráfico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xt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Picture 2" descr=""/>
          <p:cNvPicPr/>
          <p:nvPr/>
        </p:nvPicPr>
        <p:blipFill>
          <a:blip r:embed="rId1"/>
          <a:stretch/>
        </p:blipFill>
        <p:spPr>
          <a:xfrm>
            <a:off x="827640" y="3136320"/>
            <a:ext cx="8100000" cy="295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aixaDeTexto 2"/>
          <p:cNvSpPr/>
          <p:nvPr/>
        </p:nvSpPr>
        <p:spPr>
          <a:xfrm>
            <a:off x="205920" y="476640"/>
            <a:ext cx="47530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Aceleração instantânea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aceleração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CaixaDeTexto 3"/>
          <p:cNvSpPr/>
          <p:nvPr/>
        </p:nvSpPr>
        <p:spPr>
          <a:xfrm>
            <a:off x="179640" y="1628640"/>
            <a:ext cx="8784720" cy="15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Definimos a aceleração média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mx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da partícula que se move de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pt-BR" sz="2000" spc="-1" strike="noStrike" baseline="-25000">
                <a:solidFill>
                  <a:schemeClr val="dk1"/>
                </a:solidFill>
                <a:latin typeface="Calibri"/>
              </a:rPr>
              <a:t>1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a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pt-BR" sz="2000" spc="-1" strike="noStrike" baseline="-25000">
                <a:solidFill>
                  <a:schemeClr val="dk1"/>
                </a:solidFill>
                <a:latin typeface="Calibri"/>
              </a:rPr>
              <a:t>2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como uma grandeza vetorial cujo componente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é dado pela razão entre </a:t>
            </a:r>
            <a:r>
              <a:rPr b="0" i="1" lang="pt-BR" sz="2000" spc="-1" strike="noStrike">
                <a:solidFill>
                  <a:schemeClr val="dk1"/>
                </a:solidFill>
                <a:latin typeface="Symbol"/>
              </a:rPr>
              <a:t></a:t>
            </a:r>
            <a:r>
              <a:rPr b="0" i="1" lang="pt-BR" sz="2000" spc="-1" strike="noStrike">
                <a:solidFill>
                  <a:schemeClr val="dk1"/>
                </a:solidFill>
                <a:latin typeface="Symbol"/>
              </a:rPr>
              <a:t>u</a:t>
            </a:r>
            <a:r>
              <a:rPr b="0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, a variação do componente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da velocidade e o intervalo </a:t>
            </a:r>
            <a:r>
              <a:rPr b="0" i="1" lang="pt-BR" sz="2000" spc="-1" strike="noStrike">
                <a:solidFill>
                  <a:schemeClr val="dk1"/>
                </a:solidFill>
                <a:latin typeface="Symbol"/>
              </a:rPr>
              <a:t>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Picture 2" descr=""/>
          <p:cNvPicPr/>
          <p:nvPr/>
        </p:nvPicPr>
        <p:blipFill>
          <a:blip r:embed="rId1"/>
          <a:stretch/>
        </p:blipFill>
        <p:spPr>
          <a:xfrm>
            <a:off x="828000" y="3366360"/>
            <a:ext cx="7848360" cy="179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aixaDeTexto 2"/>
          <p:cNvSpPr/>
          <p:nvPr/>
        </p:nvSpPr>
        <p:spPr>
          <a:xfrm>
            <a:off x="205920" y="476640"/>
            <a:ext cx="47530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Aceleração instantânea e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aceleração média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aixaDeTexto 3"/>
          <p:cNvSpPr/>
          <p:nvPr/>
        </p:nvSpPr>
        <p:spPr>
          <a:xfrm>
            <a:off x="179640" y="1628640"/>
            <a:ext cx="8784720" cy="37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velocidade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indica como 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posição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de um corpo varia com o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tempo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; é um vetor cujo módulo indica 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velocidade do deslocamento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do corpo, e sua direção e sentido mostram 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direção e o sentido do movimento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aceleração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indica como a velocidade e a direção do movimento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variam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com o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tempo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Pode ser útil lembrar-se da frase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a aceleração está para a velocidade assim como a velocidade está para a posição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.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aixaDeTexto 2"/>
          <p:cNvSpPr/>
          <p:nvPr/>
        </p:nvSpPr>
        <p:spPr>
          <a:xfrm>
            <a:off x="185400" y="476640"/>
            <a:ext cx="51404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Movimento com aceleração 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constante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CaixaDeTexto 3"/>
          <p:cNvSpPr/>
          <p:nvPr/>
        </p:nvSpPr>
        <p:spPr>
          <a:xfrm>
            <a:off x="179640" y="2252520"/>
            <a:ext cx="4755600" cy="23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A figura ao lado é um diagrama do movimento que mostra a posição, a velocidade e a aceleração para uma partícula que se move com aceleração constante: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Picture 2" descr=""/>
          <p:cNvPicPr/>
          <p:nvPr/>
        </p:nvPicPr>
        <p:blipFill>
          <a:blip r:embed="rId1"/>
          <a:stretch/>
        </p:blipFill>
        <p:spPr>
          <a:xfrm>
            <a:off x="5076000" y="1917000"/>
            <a:ext cx="3758400" cy="449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aixaDeTexto 2"/>
          <p:cNvSpPr/>
          <p:nvPr/>
        </p:nvSpPr>
        <p:spPr>
          <a:xfrm>
            <a:off x="177120" y="476640"/>
            <a:ext cx="50490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Movimento com aceleração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constante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CaixaDeTexto 3"/>
          <p:cNvSpPr/>
          <p:nvPr/>
        </p:nvSpPr>
        <p:spPr>
          <a:xfrm>
            <a:off x="179640" y="1628640"/>
            <a:ext cx="878472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Gráfico da aceleração </a:t>
            </a:r>
            <a:r>
              <a:rPr b="0" i="1" lang="pt-BR" sz="2000" spc="-1" strike="noStrike">
                <a:solidFill>
                  <a:srgbClr val="11a157"/>
                </a:solidFill>
                <a:latin typeface="Calibri"/>
              </a:rPr>
              <a:t>versus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tempo (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) para uma partícula que se move em linha reta com aceleração constante positiva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Picture 2" descr=""/>
          <p:cNvPicPr/>
          <p:nvPr/>
        </p:nvPicPr>
        <p:blipFill>
          <a:blip r:embed="rId1"/>
          <a:stretch/>
        </p:blipFill>
        <p:spPr>
          <a:xfrm>
            <a:off x="2604960" y="2709000"/>
            <a:ext cx="3933360" cy="35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aixaDeTexto 2"/>
          <p:cNvSpPr/>
          <p:nvPr/>
        </p:nvSpPr>
        <p:spPr>
          <a:xfrm>
            <a:off x="177120" y="476640"/>
            <a:ext cx="50490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Movimento com aceleração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constante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CaixaDeTexto 3"/>
          <p:cNvSpPr/>
          <p:nvPr/>
        </p:nvSpPr>
        <p:spPr>
          <a:xfrm>
            <a:off x="179640" y="1628640"/>
            <a:ext cx="8784720" cy="11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Gráfico da velocidade </a:t>
            </a:r>
            <a:r>
              <a:rPr b="0" i="1" lang="pt-BR" sz="2000" spc="-1" strike="noStrike">
                <a:solidFill>
                  <a:srgbClr val="11a157"/>
                </a:solidFill>
                <a:latin typeface="Calibri"/>
              </a:rPr>
              <a:t>versus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tempo (</a:t>
            </a:r>
            <a:r>
              <a:rPr b="0" i="1" lang="pt-BR" sz="2000" spc="-1" strike="noStrike">
                <a:solidFill>
                  <a:schemeClr val="dk1"/>
                </a:solidFill>
                <a:latin typeface="Symbol"/>
              </a:rPr>
              <a:t>u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t) 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para uma partícula que se move em linha reta com aceleração constante positiva </a:t>
            </a:r>
            <a:r>
              <a:rPr b="0" i="1" lang="pt-BR" sz="20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i="1" lang="pt-BR" sz="2000" spc="-1" strike="noStrike" baseline="-25000">
                <a:solidFill>
                  <a:schemeClr val="dk1"/>
                </a:solidFill>
                <a:latin typeface="Calibri"/>
              </a:rPr>
              <a:t>x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Picture 2" descr=""/>
          <p:cNvPicPr/>
          <p:nvPr/>
        </p:nvPicPr>
        <p:blipFill>
          <a:blip r:embed="rId1"/>
          <a:stretch/>
        </p:blipFill>
        <p:spPr>
          <a:xfrm>
            <a:off x="2843640" y="2643840"/>
            <a:ext cx="3350880" cy="416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aixaDeTexto 2"/>
          <p:cNvSpPr/>
          <p:nvPr/>
        </p:nvSpPr>
        <p:spPr>
          <a:xfrm>
            <a:off x="244800" y="476640"/>
            <a:ext cx="4023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Queda livre de corpos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CaixaDeTexto 3"/>
          <p:cNvSpPr/>
          <p:nvPr/>
        </p:nvSpPr>
        <p:spPr>
          <a:xfrm>
            <a:off x="179640" y="1628640"/>
            <a:ext cx="878472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O exemplo mais familiar de um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movimento com aceleração constante 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é 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queda livre de um corpo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atraído pela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força gravitacional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 da Terra.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A aceleração constante de um corpo em queda livre denomina-se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aceleração da gravidade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, e seu módulo é designado por </a:t>
            </a:r>
            <a:r>
              <a:rPr b="0" lang="pt-BR" sz="2000" spc="-1" strike="noStrike">
                <a:solidFill>
                  <a:srgbClr val="11a157"/>
                </a:solidFill>
                <a:latin typeface="Calibri"/>
              </a:rPr>
              <a:t>g</a:t>
            </a: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.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Sempre usaremos o valor aproximado de g na superfície terrestre ou próximo a ela: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g = 9,80 m/s² = 980 cm/s² = 32,2 pés/s² 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50000"/>
              </a:lnSpc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(valor aproximado próximo à superfície terrestre)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aixaDeTexto 2"/>
          <p:cNvSpPr/>
          <p:nvPr/>
        </p:nvSpPr>
        <p:spPr>
          <a:xfrm>
            <a:off x="229680" y="476640"/>
            <a:ext cx="454428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Velocidade e posição por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197b52"/>
                </a:solidFill>
                <a:latin typeface="Trebuchet MS"/>
              </a:rPr>
              <a:t>integração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CaixaDeTexto 3"/>
          <p:cNvSpPr/>
          <p:nvPr/>
        </p:nvSpPr>
        <p:spPr>
          <a:xfrm>
            <a:off x="179640" y="1628640"/>
            <a:ext cx="878472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60000" indent="-360000" algn="just" defTabSz="91440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Calibri"/>
              </a:rPr>
              <a:t>A figura abaixo mostra um gráfico de aceleração versus tempo para um corpo cuja aceleração não é constante: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2" descr=""/>
          <p:cNvPicPr/>
          <p:nvPr/>
        </p:nvPicPr>
        <p:blipFill>
          <a:blip r:embed="rId1"/>
          <a:stretch/>
        </p:blipFill>
        <p:spPr>
          <a:xfrm>
            <a:off x="3196080" y="2709000"/>
            <a:ext cx="3031920" cy="3967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Application>LibreOffice/24.2.7.2$Linux_X86_64 LibreOffice_project/420$Build-2</Application>
  <AppVersion>15.0000</AppVersion>
  <Words>726</Words>
  <Paragraphs>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2014-10-30T14:07:03Z</dcterms:created>
  <dc:creator>Guimaraes, Marcos</dc:creator>
  <dc:description/>
  <dc:language>pt-BR</dc:language>
  <cp:lastModifiedBy/>
  <dcterms:modified xsi:type="dcterms:W3CDTF">2026-08-04T17:06:47Z</dcterms:modified>
  <cp:revision>52</cp:revision>
  <dc:subject/>
  <dc:title>Apresentação do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Apresentação na tela (4:3)</vt:lpwstr>
  </property>
  <property fmtid="{D5CDD505-2E9C-101B-9397-08002B2CF9AE}" pid="3" name="Slides">
    <vt:i4>17</vt:i4>
  </property>
</Properties>
</file>